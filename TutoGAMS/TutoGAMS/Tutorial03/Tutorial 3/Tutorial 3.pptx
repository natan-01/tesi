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138" autoAdjust="0"/>
  </p:normalViewPr>
  <p:slideViewPr>
    <p:cSldViewPr snapToGrid="0">
      <p:cViewPr varScale="1">
        <p:scale>
          <a:sx n="51" d="100"/>
          <a:sy n="51" d="100"/>
        </p:scale>
        <p:origin x="7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EFF9A-6C3D-497D-BE77-82EE12B40196}" type="datetimeFigureOut">
              <a:rPr lang="it-IT" smtClean="0"/>
              <a:t>15/11/2016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6D73F-63CB-40B6-B1DF-F4B9976ED29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7544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Rho deve essere inizializzato prima di fare l’assegnazione.</a:t>
            </a:r>
            <a:r>
              <a:rPr lang="it-IT" baseline="0" dirty="0" smtClean="0"/>
              <a:t> Per esempio rho(i)=0;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06D73F-63CB-40B6-B1DF-F4B9976ED29E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33689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06D73F-63CB-40B6-B1DF-F4B9976ED29E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9430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Reddito della regione è la somma dei redditi delle provincie dove</a:t>
            </a:r>
            <a:r>
              <a:rPr lang="it-IT" baseline="0" dirty="0" smtClean="0"/>
              <a:t> </a:t>
            </a:r>
            <a:r>
              <a:rPr lang="it-IT" baseline="0" dirty="0" err="1" smtClean="0"/>
              <a:t>corr</a:t>
            </a:r>
            <a:r>
              <a:rPr lang="it-IT" baseline="0" dirty="0" smtClean="0"/>
              <a:t>(</a:t>
            </a:r>
            <a:r>
              <a:rPr lang="it-IT" baseline="0" dirty="0" err="1" smtClean="0"/>
              <a:t>r,p</a:t>
            </a:r>
            <a:r>
              <a:rPr lang="it-IT" baseline="0" dirty="0" smtClean="0"/>
              <a:t>) collega ogni provincia alla propria regione.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06D73F-63CB-40B6-B1DF-F4B9976ED29E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6549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 smtClean="0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11/15/2016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Tutorial </a:t>
            </a:r>
            <a:r>
              <a:rPr lang="it-IT" dirty="0" err="1"/>
              <a:t>gams</a:t>
            </a:r>
            <a:endParaRPr lang="it-IT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Parte </a:t>
            </a:r>
            <a:r>
              <a:rPr lang="it-IT" dirty="0" smtClean="0"/>
              <a:t>3: istruzioni condizionate.</a:t>
            </a:r>
          </a:p>
        </p:txBody>
      </p:sp>
    </p:spTree>
    <p:extLst>
      <p:ext uri="{BB962C8B-B14F-4D97-AF65-F5344CB8AC3E}">
        <p14:creationId xmlns:p14="http://schemas.microsoft.com/office/powerpoint/2010/main" val="222090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Istruzioni condizionate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Spesso è necessario introdurre delle eccezioni all’interno del problema di ottimizzazione</a:t>
            </a:r>
          </a:p>
          <a:p>
            <a:pPr lvl="1"/>
            <a:r>
              <a:rPr lang="it-IT" dirty="0" smtClean="0"/>
              <a:t>Fai un’operazione per tutti gli elementi di un insieme tranne alcuni</a:t>
            </a:r>
          </a:p>
          <a:p>
            <a:pPr lvl="1"/>
            <a:r>
              <a:rPr lang="it-IT" dirty="0" smtClean="0"/>
              <a:t>Somma solo i valori pari</a:t>
            </a:r>
          </a:p>
          <a:p>
            <a:pPr lvl="1"/>
            <a:r>
              <a:rPr lang="it-IT" dirty="0" smtClean="0"/>
              <a:t>Considera solo i valori maggiori di 100. </a:t>
            </a:r>
            <a:r>
              <a:rPr lang="it-IT" dirty="0" err="1" smtClean="0"/>
              <a:t>ecc</a:t>
            </a:r>
            <a:endParaRPr lang="it-IT" dirty="0" smtClean="0"/>
          </a:p>
          <a:p>
            <a:pPr lvl="1"/>
            <a:r>
              <a:rPr lang="it-IT" dirty="0" smtClean="0"/>
              <a:t>Considera solo i percorsi di un certo tipo per i trasporti…</a:t>
            </a:r>
          </a:p>
          <a:p>
            <a:r>
              <a:rPr lang="it-IT" dirty="0" smtClean="0"/>
              <a:t>Tali istruzioni vengono eseguite solo se una condizione viene valutata come vera.</a:t>
            </a:r>
          </a:p>
        </p:txBody>
      </p:sp>
    </p:spTree>
    <p:extLst>
      <p:ext uri="{BB962C8B-B14F-4D97-AF65-F5344CB8AC3E}">
        <p14:creationId xmlns:p14="http://schemas.microsoft.com/office/powerpoint/2010/main" val="335583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Condizioni logiche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Sono espressioni che possono assumere valore di vero o falso</a:t>
            </a:r>
          </a:p>
          <a:p>
            <a:r>
              <a:rPr lang="it-IT" dirty="0" smtClean="0"/>
              <a:t>Per poter generare tali espressioni si usano due tipi di operatori</a:t>
            </a:r>
          </a:p>
          <a:p>
            <a:pPr lvl="1"/>
            <a:r>
              <a:rPr lang="it-IT" dirty="0" smtClean="0"/>
              <a:t>Relazioni numeriche</a:t>
            </a:r>
          </a:p>
          <a:p>
            <a:pPr lvl="1"/>
            <a:r>
              <a:rPr lang="it-IT" dirty="0" smtClean="0"/>
              <a:t>Operatori logici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24500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Relazioni numeriche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914400" y="2367092"/>
            <a:ext cx="10363826" cy="3424107"/>
          </a:xfrm>
        </p:spPr>
        <p:txBody>
          <a:bodyPr/>
          <a:lstStyle/>
          <a:p>
            <a:r>
              <a:rPr lang="it-IT" dirty="0" smtClean="0"/>
              <a:t>Mettono a confronto due espressioni numeriche</a:t>
            </a:r>
          </a:p>
          <a:p>
            <a:pPr lvl="1"/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lt </a:t>
            </a:r>
            <a:r>
              <a:rPr lang="it-IT" cap="none" dirty="0" smtClean="0">
                <a:cs typeface="Courier New" panose="02070309020205020404" pitchFamily="49" charset="0"/>
              </a:rPr>
              <a:t>MINORE O UGUALE</a:t>
            </a:r>
            <a:endParaRPr lang="it-IT" cap="none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le </a:t>
            </a:r>
            <a:r>
              <a:rPr lang="it-IT" cap="none" dirty="0">
                <a:cs typeface="Courier New" panose="02070309020205020404" pitchFamily="49" charset="0"/>
              </a:rPr>
              <a:t>MINORE</a:t>
            </a:r>
          </a:p>
          <a:p>
            <a:pPr lvl="1"/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eq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>
                <a:cs typeface="Courier New" panose="02070309020205020404" pitchFamily="49" charset="0"/>
              </a:rPr>
              <a:t>UGUALE</a:t>
            </a:r>
          </a:p>
          <a:p>
            <a:pPr lvl="1"/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ne </a:t>
            </a:r>
            <a:r>
              <a:rPr lang="it-IT" cap="none" dirty="0" smtClean="0">
                <a:cs typeface="Courier New" panose="02070309020205020404" pitchFamily="49" charset="0"/>
              </a:rPr>
              <a:t>DIVERSO</a:t>
            </a:r>
            <a:endParaRPr lang="it-IT" cap="none" dirty="0">
              <a:cs typeface="Courier New" panose="02070309020205020404" pitchFamily="49" charset="0"/>
            </a:endParaRPr>
          </a:p>
          <a:p>
            <a:pPr lvl="1"/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ge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>
                <a:cs typeface="Courier New" panose="02070309020205020404" pitchFamily="49" charset="0"/>
              </a:rPr>
              <a:t>MAGGIORE O UGUALE</a:t>
            </a:r>
          </a:p>
          <a:p>
            <a:pPr lvl="1"/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>
                <a:cs typeface="Courier New" panose="02070309020205020404" pitchFamily="49" charset="0"/>
              </a:rPr>
              <a:t>MAGGIORE</a:t>
            </a:r>
          </a:p>
          <a:p>
            <a:pPr marL="0" indent="0">
              <a:buNone/>
            </a:pPr>
            <a:r>
              <a:rPr lang="it-IT" dirty="0" smtClean="0"/>
              <a:t>Es.: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sqr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(a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 &gt; a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it-IT" dirty="0" smtClean="0"/>
              <a:t>è FALSO PER OGNI 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it-IT" dirty="0" smtClean="0"/>
              <a:t> COMPRESO TRA -1 E +1</a:t>
            </a:r>
            <a:endParaRPr lang="it-IT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276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OPERATORI LOGICI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SONO I SEGUENTI</a:t>
            </a:r>
          </a:p>
          <a:p>
            <a:pPr lvl="1"/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it-IT" dirty="0" smtClean="0"/>
              <a:t>  ESCLUSIONE</a:t>
            </a:r>
          </a:p>
          <a:p>
            <a:pPr lvl="1"/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nd </a:t>
            </a:r>
            <a:r>
              <a:rPr lang="it-IT" dirty="0"/>
              <a:t>CONGIUNZIONE</a:t>
            </a:r>
            <a:endParaRPr lang="it-IT" dirty="0"/>
          </a:p>
          <a:p>
            <a:pPr lvl="1"/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or  </a:t>
            </a:r>
            <a:r>
              <a:rPr lang="it-IT" dirty="0" smtClean="0"/>
              <a:t>O </a:t>
            </a:r>
            <a:r>
              <a:rPr lang="it-IT" dirty="0"/>
              <a:t>INCLUSIVO </a:t>
            </a:r>
            <a:r>
              <a:rPr lang="it-IT" dirty="0" smtClean="0"/>
              <a:t> (vero se vale </a:t>
            </a:r>
            <a:r>
              <a:rPr lang="it-IT" b="1" dirty="0" smtClean="0"/>
              <a:t>almeno</a:t>
            </a:r>
            <a:r>
              <a:rPr lang="it-IT" dirty="0" smtClean="0"/>
              <a:t> uno dei due)</a:t>
            </a:r>
            <a:endParaRPr lang="it-IT" dirty="0"/>
          </a:p>
          <a:p>
            <a:pPr lvl="1"/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/>
              <a:t>O </a:t>
            </a:r>
            <a:r>
              <a:rPr lang="it-IT" dirty="0" smtClean="0"/>
              <a:t>ESCLUSIVO (vero se vale </a:t>
            </a:r>
            <a:r>
              <a:rPr lang="it-IT" b="1" dirty="0" smtClean="0"/>
              <a:t>solo</a:t>
            </a:r>
            <a:r>
              <a:rPr lang="it-IT" dirty="0" smtClean="0"/>
              <a:t> uno dei due)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10600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IL DOLLARO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La condizione di dollaro funziona come una condizione logica</a:t>
            </a:r>
          </a:p>
          <a:p>
            <a:r>
              <a:rPr lang="it-IT" dirty="0" smtClean="0"/>
              <a:t>Viene definita come</a:t>
            </a:r>
          </a:p>
          <a:p>
            <a:pPr marL="457200" lvl="1" indent="0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$(condizione)</a:t>
            </a:r>
          </a:p>
          <a:p>
            <a:pPr marL="0" indent="0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it-IT" dirty="0" smtClean="0"/>
              <a:t>e si legge come </a:t>
            </a:r>
            <a:r>
              <a:rPr lang="it-IT" i="1" dirty="0" smtClean="0"/>
              <a:t>«tale che la condizione in parentesi è valida»</a:t>
            </a:r>
          </a:p>
          <a:p>
            <a:r>
              <a:rPr lang="it-IT" dirty="0"/>
              <a:t>È usata per modellare assegnazioni, espressioni ed equazioni condizionali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9758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Assegnazione condizionata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Consideriamo l’espressione:</a:t>
            </a:r>
          </a:p>
          <a:p>
            <a:pPr marL="457200" lvl="1" indent="0" algn="ctr">
              <a:buNone/>
            </a:pP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if (b &gt; 1.5), then a = 2</a:t>
            </a:r>
          </a:p>
          <a:p>
            <a:pPr marL="0" indent="0">
              <a:buNone/>
            </a:pPr>
            <a:r>
              <a:rPr lang="en-US" dirty="0" smtClean="0"/>
              <a:t>    In gams </a:t>
            </a:r>
            <a:r>
              <a:rPr lang="en-US" dirty="0" err="1" smtClean="0"/>
              <a:t>si</a:t>
            </a:r>
            <a:r>
              <a:rPr lang="en-US" dirty="0" smtClean="0"/>
              <a:t> Modella come</a:t>
            </a:r>
          </a:p>
          <a:p>
            <a:pPr marL="0" indent="0" algn="ctr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a$(b &gt; 1.5) = 2 ;</a:t>
            </a:r>
          </a:p>
          <a:p>
            <a:r>
              <a:rPr lang="it-IT" cap="none" dirty="0" smtClean="0">
                <a:cs typeface="Courier New" panose="02070309020205020404" pitchFamily="49" charset="0"/>
              </a:rPr>
              <a:t>SE LA CONDIZIONE NON È SODDISFATTA, AD  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it-IT" cap="none" dirty="0" smtClean="0">
                <a:cs typeface="Courier New" panose="02070309020205020404" pitchFamily="49" charset="0"/>
              </a:rPr>
              <a:t>NON VIENE ASSEGNATO IL VALORE 2</a:t>
            </a:r>
          </a:p>
          <a:p>
            <a:r>
              <a:rPr lang="it-IT" dirty="0"/>
              <a:t>Tale espressione è un’assegnazione condizionata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86122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Assegnazione: dollaro a sinistra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L’effetto del dollaro è diverso a seconda di dove viene posizionato il simbolo all’interno dell’espressione</a:t>
            </a:r>
          </a:p>
          <a:p>
            <a:r>
              <a:rPr lang="it-IT" dirty="0" smtClean="0"/>
              <a:t>Dollaro a sinistra dell’assegnazione</a:t>
            </a:r>
          </a:p>
          <a:p>
            <a:pPr lvl="1"/>
            <a:r>
              <a:rPr lang="it-IT" dirty="0" smtClean="0"/>
              <a:t>L’assegnazione non è effettuata  a meno che la condizione logica dopo il dollaro è soddisfatta.</a:t>
            </a:r>
          </a:p>
          <a:p>
            <a:pPr lvl="1"/>
            <a:r>
              <a:rPr lang="it-IT" dirty="0" smtClean="0"/>
              <a:t>Esempio</a:t>
            </a:r>
          </a:p>
          <a:p>
            <a:pPr marL="457200" lvl="1" indent="0" algn="ctr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rho(i)$(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sig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(i) ne 0) = (1./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sig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(i)) - 1. </a:t>
            </a:r>
            <a:r>
              <a:rPr lang="it-IT" dirty="0" smtClean="0"/>
              <a:t>;</a:t>
            </a:r>
          </a:p>
          <a:p>
            <a:pPr lvl="1"/>
            <a:r>
              <a:rPr lang="it-IT" dirty="0"/>
              <a:t>assegna </a:t>
            </a:r>
            <a:r>
              <a:rPr lang="it-IT" dirty="0" smtClean="0"/>
              <a:t> l’espressione </a:t>
            </a:r>
            <a:r>
              <a:rPr lang="it-IT" dirty="0"/>
              <a:t>a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rho</a:t>
            </a:r>
            <a:r>
              <a:rPr lang="it-IT" dirty="0"/>
              <a:t> solo se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sig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(i)</a:t>
            </a:r>
            <a:r>
              <a:rPr lang="it-IT" dirty="0" smtClean="0"/>
              <a:t>non </a:t>
            </a:r>
            <a:r>
              <a:rPr lang="it-IT" dirty="0"/>
              <a:t>è nullo</a:t>
            </a:r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648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Assegnazione: dollaro a </a:t>
            </a:r>
            <a:r>
              <a:rPr lang="it-IT" dirty="0" smtClean="0"/>
              <a:t>destra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Se il simbolo di dollaro si trova a destra dell’assegnazione l’ASSEGNAZIONE è FATTA COMUNQUE</a:t>
            </a:r>
          </a:p>
          <a:p>
            <a:r>
              <a:rPr lang="it-IT" dirty="0" smtClean="0"/>
              <a:t>SE LA CONDIZIONE è VALUTATA COME FATTA VIENE ASSEGNATO LO ZERO.</a:t>
            </a:r>
          </a:p>
          <a:p>
            <a:r>
              <a:rPr lang="it-IT" dirty="0" smtClean="0"/>
              <a:t>ESEMPIO</a:t>
            </a:r>
          </a:p>
          <a:p>
            <a:pPr marL="0" indent="0" algn="ctr">
              <a:buNone/>
            </a:pP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x = 2$(y &gt; 1.5</a:t>
            </a:r>
            <a:r>
              <a:rPr lang="it-IT" sz="1800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it-IT" dirty="0"/>
              <a:t> </a:t>
            </a:r>
            <a:r>
              <a:rPr lang="it-IT" dirty="0" smtClean="0"/>
              <a:t>   ASSEGNA AD </a:t>
            </a:r>
            <a:r>
              <a:rPr lang="it-IT" sz="1800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it-IT" dirty="0" smtClean="0"/>
              <a:t> IL VALORE 2 SE </a:t>
            </a:r>
            <a:r>
              <a:rPr lang="it-IT" sz="1800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it-IT" dirty="0" smtClean="0"/>
              <a:t> è MAGGIORE DI 1.4, ALTRIMENTI </a:t>
            </a:r>
            <a:r>
              <a:rPr lang="it-IT" sz="1800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x=0</a:t>
            </a:r>
            <a:endParaRPr lang="it-IT" sz="1800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150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FILTRO SUL CONTROLLO DEGLI INDICI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it-IT" dirty="0" smtClean="0"/>
              <a:t>GLI INDICI SUI QUALI VARIA UN INSIEME POSSONO ESSERE CONTROLLATI USANDO IL SIMBOLO DEL DOLLARO. AD ESEMPIO</a:t>
            </a:r>
          </a:p>
          <a:p>
            <a:pPr marL="0" indent="0">
              <a:buNone/>
            </a:pP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cost.. </a:t>
            </a:r>
          </a:p>
          <a:p>
            <a:pPr marL="0" indent="0">
              <a:buNone/>
            </a:pP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totcost</a:t>
            </a: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=e= sum((</a:t>
            </a:r>
            <a:r>
              <a:rPr lang="en-US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)$</a:t>
            </a:r>
            <a:r>
              <a:rPr lang="en-US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en-US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shipcost</a:t>
            </a: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)*shipped(</a:t>
            </a:r>
            <a:r>
              <a:rPr lang="en-US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DOVE </a:t>
            </a:r>
            <a:r>
              <a:rPr lang="en-US" dirty="0"/>
              <a:t>GLI INDICI </a:t>
            </a:r>
            <a:r>
              <a:rPr lang="en-US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E</a:t>
            </a: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j </a:t>
            </a:r>
            <a:r>
              <a:rPr lang="en-US" dirty="0"/>
              <a:t>SONO LEGATI NELL’INSIEME </a:t>
            </a:r>
            <a:r>
              <a:rPr lang="en-US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/>
              <a:t>Le </a:t>
            </a:r>
            <a:r>
              <a:rPr lang="en-US" dirty="0" err="1"/>
              <a:t>coppie</a:t>
            </a:r>
            <a:r>
              <a:rPr lang="en-US" dirty="0"/>
              <a:t> di </a:t>
            </a:r>
            <a:r>
              <a:rPr lang="en-US" dirty="0" err="1"/>
              <a:t>indici</a:t>
            </a:r>
            <a:r>
              <a:rPr lang="en-US" dirty="0"/>
              <a:t> </a:t>
            </a:r>
            <a:r>
              <a:rPr lang="en-US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e j </a:t>
            </a:r>
            <a:r>
              <a:rPr lang="en-US" dirty="0"/>
              <a:t>considerate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solo </a:t>
            </a:r>
            <a:r>
              <a:rPr lang="en-US" dirty="0" err="1"/>
              <a:t>quelle</a:t>
            </a:r>
            <a:r>
              <a:rPr lang="en-US" dirty="0"/>
              <a:t> </a:t>
            </a:r>
            <a:r>
              <a:rPr lang="en-US" dirty="0" err="1"/>
              <a:t>presenti</a:t>
            </a:r>
            <a:r>
              <a:rPr lang="en-US" dirty="0"/>
              <a:t> </a:t>
            </a:r>
            <a:r>
              <a:rPr lang="en-US" dirty="0" err="1"/>
              <a:t>nell’insieme</a:t>
            </a:r>
            <a:r>
              <a:rPr lang="en-US" dirty="0"/>
              <a:t> </a:t>
            </a:r>
            <a:r>
              <a:rPr lang="en-US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en-US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cap="none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104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Condizioni sugli indici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Oltre a filtrare gli indici si possono definire condizioni attraverso opportuni operatori. Esempio</a:t>
            </a:r>
          </a:p>
          <a:p>
            <a:pPr marL="0" indent="0" algn="ctr">
              <a:buNone/>
            </a:pP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tsubc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sum(i$(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supc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(i) ne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inf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supc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(i)) ;</a:t>
            </a: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/>
              <a:t>valuta la </a:t>
            </a:r>
            <a:r>
              <a:rPr lang="it-IT" dirty="0" smtClean="0"/>
              <a:t>somma </a:t>
            </a:r>
            <a:r>
              <a:rPr lang="it-IT" dirty="0"/>
              <a:t>di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supc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(i) </a:t>
            </a:r>
            <a:r>
              <a:rPr lang="it-IT" dirty="0"/>
              <a:t>solo se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supc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(i)</a:t>
            </a:r>
            <a:r>
              <a:rPr lang="it-IT" dirty="0" smtClean="0"/>
              <a:t> </a:t>
            </a:r>
            <a:r>
              <a:rPr lang="it-IT" dirty="0"/>
              <a:t>ha valore </a:t>
            </a:r>
            <a:r>
              <a:rPr lang="it-IT" dirty="0" smtClean="0"/>
              <a:t>finito.</a:t>
            </a:r>
          </a:p>
          <a:p>
            <a:r>
              <a:rPr lang="it-IT" dirty="0" smtClean="0"/>
              <a:t>Esempio sul calcolo del reddito totale di una regione</a:t>
            </a:r>
          </a:p>
          <a:p>
            <a:pPr marL="0" indent="0" algn="ctr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y(r) = 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sum(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p$corr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r,p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), reddito(p));</a:t>
            </a:r>
          </a:p>
          <a:p>
            <a:r>
              <a:rPr lang="it-IT" dirty="0"/>
              <a:t>Dove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p </a:t>
            </a:r>
            <a:r>
              <a:rPr lang="it-IT" dirty="0"/>
              <a:t>è l’indice della provincia e 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 </a:t>
            </a:r>
            <a:r>
              <a:rPr lang="it-IT" dirty="0"/>
              <a:t>della regione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6471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Equazioni condizionate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Il simbolo del dollaro può essere usato anche per il controllo dell’uso delle equazioni nel modello</a:t>
            </a:r>
          </a:p>
          <a:p>
            <a:r>
              <a:rPr lang="it-IT" dirty="0" smtClean="0"/>
              <a:t>Il dollaro può essere usato in due parti dell’equazione</a:t>
            </a:r>
          </a:p>
          <a:p>
            <a:pPr lvl="1"/>
            <a:r>
              <a:rPr lang="it-IT" dirty="0" smtClean="0"/>
              <a:t>Nel corpo dell’equazione</a:t>
            </a:r>
          </a:p>
          <a:p>
            <a:pPr lvl="1"/>
            <a:r>
              <a:rPr lang="it-IT" dirty="0" smtClean="0"/>
              <a:t>Nel dominio di definizione dell’equazione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37729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Dollaro nel corpo dell’equazione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Effetto simile al dollaro a destra di un’assegnazione</a:t>
            </a:r>
          </a:p>
          <a:p>
            <a:r>
              <a:rPr lang="it-IT" dirty="0" smtClean="0"/>
              <a:t>Utilizzato per escludere parti della definizione da alcuni dei vincoli</a:t>
            </a:r>
          </a:p>
          <a:p>
            <a:r>
              <a:rPr lang="it-IT" dirty="0" smtClean="0"/>
              <a:t>Esempio</a:t>
            </a:r>
          </a:p>
          <a:p>
            <a:pPr marL="0" indent="0" algn="ctr">
              <a:buNone/>
            </a:pPr>
            <a:r>
              <a:rPr lang="nn-NO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mb(i).. </a:t>
            </a:r>
            <a:r>
              <a:rPr lang="nn-NO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x(i</a:t>
            </a:r>
            <a:r>
              <a:rPr lang="nn-NO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 =g= y(i) + (e(i) - m(i))$t(i) </a:t>
            </a:r>
            <a:r>
              <a:rPr lang="nn-NO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nn-NO" dirty="0"/>
              <a:t>Aggiunge il secondo addendo solo se l’elemento di </a:t>
            </a:r>
            <a:r>
              <a:rPr lang="nn-NO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nn-NO" dirty="0" smtClean="0"/>
              <a:t> </a:t>
            </a:r>
            <a:r>
              <a:rPr lang="nn-NO" dirty="0"/>
              <a:t>appartiene all’insieme </a:t>
            </a:r>
            <a:r>
              <a:rPr lang="nn-NO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t(i)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049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Dollaro nel dominio di definizione dell’equazione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it-IT" dirty="0" smtClean="0"/>
              <a:t>Permette di generare un numero di vincoli minore a quelli che si avrebbero considerando tutti gli indici su cui le equazioni sono definite</a:t>
            </a:r>
          </a:p>
          <a:p>
            <a:r>
              <a:rPr lang="it-IT" dirty="0" smtClean="0"/>
              <a:t>Esempio</a:t>
            </a:r>
          </a:p>
          <a:p>
            <a:pPr marL="0" indent="0">
              <a:buNone/>
            </a:pP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equation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logical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 ;</a:t>
            </a:r>
          </a:p>
          <a:p>
            <a:pPr marL="0" indent="0">
              <a:buNone/>
            </a:pP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logical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)$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)..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shipped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 =l= 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bigM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)*bin(</a:t>
            </a:r>
            <a:r>
              <a:rPr lang="it-IT" cap="non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) ; 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it-IT" dirty="0" smtClean="0"/>
              <a:t>In </a:t>
            </a:r>
            <a:r>
              <a:rPr lang="it-IT" dirty="0"/>
              <a:t>questo caso si considerano solo le equazioni per le quali gli </a:t>
            </a:r>
            <a:r>
              <a:rPr lang="it-IT" dirty="0" smtClean="0"/>
              <a:t>    indici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smtClean="0"/>
              <a:t>e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j </a:t>
            </a:r>
            <a:r>
              <a:rPr lang="it-IT" dirty="0"/>
              <a:t>sono nell’insieme 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ij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i,j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181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smtClean="0"/>
              <a:t>Altri usi tipici del dollaro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>
          <a:xfrm>
            <a:off x="928764" y="2367092"/>
            <a:ext cx="10363826" cy="3424107"/>
          </a:xfrm>
        </p:spPr>
        <p:txBody>
          <a:bodyPr/>
          <a:lstStyle/>
          <a:p>
            <a:r>
              <a:rPr lang="it-IT" dirty="0" smtClean="0"/>
              <a:t>Inserire commenti su più righe con i comandi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offtext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smtClean="0"/>
              <a:t>e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ontext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offtext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Commenti </a:t>
            </a:r>
          </a:p>
          <a:p>
            <a:pPr marL="0" indent="0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su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più</a:t>
            </a:r>
          </a:p>
          <a:p>
            <a:pPr marL="0" indent="0">
              <a:buNone/>
            </a:pP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righe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it-IT" cap="none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ontext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5536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Altri usi tipici del dollaro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 smtClean="0"/>
              <a:t>Definire il percorso per richiamare altri file contenenti altre parti del codice (per esempio i dati)</a:t>
            </a:r>
            <a:endParaRPr lang="it-IT" dirty="0"/>
          </a:p>
          <a:p>
            <a:r>
              <a:rPr lang="it-IT" dirty="0" smtClean="0"/>
              <a:t>Si usa il comando </a:t>
            </a: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</a:p>
          <a:p>
            <a:pPr marL="0" indent="0" algn="ctr">
              <a:buNone/>
            </a:pPr>
            <a:r>
              <a:rPr lang="it-IT" cap="none" dirty="0">
                <a:latin typeface="Courier New" panose="02070309020205020404" pitchFamily="49" charset="0"/>
                <a:cs typeface="Courier New" panose="02070309020205020404" pitchFamily="49" charset="0"/>
              </a:rPr>
              <a:t>$include C:\</a:t>
            </a:r>
            <a:r>
              <a:rPr lang="it-IT" cap="none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Users\utente\CORSO_Ricerca_Operativa\dati.gms</a:t>
            </a:r>
            <a:endParaRPr lang="it-IT" cap="non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186158"/>
      </p:ext>
    </p:extLst>
  </p:cSld>
  <p:clrMapOvr>
    <a:masterClrMapping/>
  </p:clrMapOvr>
</p:sld>
</file>

<file path=ppt/theme/theme1.xml><?xml version="1.0" encoding="utf-8"?>
<a:theme xmlns:a="http://schemas.openxmlformats.org/drawingml/2006/main" name="Goccia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TM04033925[[fn=Goccia]]</Template>
  <TotalTime>173</TotalTime>
  <Words>788</Words>
  <Application>Microsoft Office PowerPoint</Application>
  <PresentationFormat>Widescreen</PresentationFormat>
  <Paragraphs>101</Paragraphs>
  <Slides>16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16</vt:i4>
      </vt:variant>
    </vt:vector>
  </HeadingPairs>
  <TitlesOfParts>
    <vt:vector size="21" baseType="lpstr">
      <vt:lpstr>Arial</vt:lpstr>
      <vt:lpstr>Calibri</vt:lpstr>
      <vt:lpstr>Courier New</vt:lpstr>
      <vt:lpstr>Tw Cen MT</vt:lpstr>
      <vt:lpstr>Goccia</vt:lpstr>
      <vt:lpstr>Tutorial gams</vt:lpstr>
      <vt:lpstr>Istruzioni condizionate</vt:lpstr>
      <vt:lpstr>Condizioni logiche</vt:lpstr>
      <vt:lpstr>Relazioni numeriche</vt:lpstr>
      <vt:lpstr>OPERATORI LOGICI</vt:lpstr>
      <vt:lpstr>IL DOLLARO</vt:lpstr>
      <vt:lpstr>Assegnazione condizionata</vt:lpstr>
      <vt:lpstr>Assegnazione: dollaro a sinistra</vt:lpstr>
      <vt:lpstr>Assegnazione: dollaro a destra</vt:lpstr>
      <vt:lpstr>FILTRO SUL CONTROLLO DEGLI INDICI</vt:lpstr>
      <vt:lpstr>Condizioni sugli indici</vt:lpstr>
      <vt:lpstr>Equazioni condizionate</vt:lpstr>
      <vt:lpstr>Dollaro nel corpo dell’equazione</vt:lpstr>
      <vt:lpstr>Dollaro nel dominio di definizione dell’equazione</vt:lpstr>
      <vt:lpstr>Altri usi tipici del dollaro</vt:lpstr>
      <vt:lpstr>Altri usi tipici del dollaro</vt:lpstr>
    </vt:vector>
  </TitlesOfParts>
  <Company>Università degli Studi di Bergamo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gams</dc:title>
  <dc:creator>Paolo Pisciella</dc:creator>
  <cp:lastModifiedBy>Paolo Pisciella</cp:lastModifiedBy>
  <cp:revision>39</cp:revision>
  <dcterms:created xsi:type="dcterms:W3CDTF">2016-11-15T15:05:49Z</dcterms:created>
  <dcterms:modified xsi:type="dcterms:W3CDTF">2016-11-15T18:00:23Z</dcterms:modified>
</cp:coreProperties>
</file>