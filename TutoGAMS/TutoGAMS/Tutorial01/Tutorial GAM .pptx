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74" r:id="rId6"/>
    <p:sldId id="275" r:id="rId7"/>
    <p:sldId id="276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7" r:id="rId23"/>
    <p:sldId id="278" r:id="rId24"/>
    <p:sldId id="279" r:id="rId25"/>
    <p:sldId id="281" r:id="rId26"/>
    <p:sldId id="282" r:id="rId27"/>
    <p:sldId id="283" r:id="rId28"/>
    <p:sldId id="280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Stile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32" autoAdjust="0"/>
  </p:normalViewPr>
  <p:slideViewPr>
    <p:cSldViewPr snapToGrid="0">
      <p:cViewPr varScale="1">
        <p:scale>
          <a:sx n="83" d="100"/>
          <a:sy n="83" d="100"/>
        </p:scale>
        <p:origin x="686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33EF3-06DE-426C-9237-C06872DCCCE9}" type="datetimeFigureOut">
              <a:rPr lang="it-IT" smtClean="0"/>
              <a:t>27/10/2016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D17CE-C567-4274-9830-9EE3728E6EB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7017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Utile</a:t>
            </a:r>
            <a:r>
              <a:rPr lang="it-IT" baseline="0" dirty="0" smtClean="0"/>
              <a:t> per risolvere problemi grandi che non si potrebbero risolvere con Excel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D17CE-C567-4274-9830-9EE3728E6EB4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1458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 smtClean="0"/>
              <a:t>In sostanza il modello potrebbe essere scritto anche su un file di testo salvato come estensione .</a:t>
            </a:r>
            <a:r>
              <a:rPr lang="it-IT" dirty="0" err="1" smtClean="0"/>
              <a:t>gms</a:t>
            </a:r>
            <a:r>
              <a:rPr lang="it-IT" dirty="0" smtClean="0"/>
              <a:t> e poi fatto girare dal </a:t>
            </a:r>
            <a:r>
              <a:rPr lang="it-IT" dirty="0" err="1" smtClean="0"/>
              <a:t>prompt</a:t>
            </a:r>
            <a:r>
              <a:rPr lang="it-IT" dirty="0" smtClean="0"/>
              <a:t> di </a:t>
            </a:r>
            <a:r>
              <a:rPr lang="it-IT" dirty="0" err="1" smtClean="0"/>
              <a:t>dos</a:t>
            </a:r>
            <a:r>
              <a:rPr lang="it-IT" dirty="0" smtClean="0"/>
              <a:t> o, in generale, dal terminale dei comandi del proprio sistema operativo.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D17CE-C567-4274-9830-9EE3728E6EB4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4672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I numeri</a:t>
            </a:r>
            <a:r>
              <a:rPr lang="it-IT" baseline="0" dirty="0" smtClean="0"/>
              <a:t> alla fine del nome fanno da ordinamento.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D17CE-C567-4274-9830-9EE3728E6EB4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8679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GAMS non è</a:t>
            </a:r>
            <a:r>
              <a:rPr lang="it-IT" baseline="0" dirty="0" smtClean="0"/>
              <a:t> case sensitive, quindi anche se avevamo definito PRODOTTI, possiamo usare Prodotti ed il compilatore non si lamenterà.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D17CE-C567-4274-9830-9EE3728E6EB4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1841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Va</a:t>
            </a:r>
            <a:r>
              <a:rPr lang="it-IT" baseline="0" dirty="0" smtClean="0"/>
              <a:t> bene sia con la virgola, sia in colonna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D17CE-C567-4274-9830-9EE3728E6EB4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3942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Nella lista si dividono gli</a:t>
            </a:r>
            <a:r>
              <a:rPr lang="it-IT" baseline="0" dirty="0" smtClean="0"/>
              <a:t> insiemi di variazione dei parametri da un punto.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D17CE-C567-4274-9830-9EE3728E6EB4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2380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Ovviamente la funzione obiettivo è solo un valore… non ha</a:t>
            </a:r>
            <a:r>
              <a:rPr lang="it-IT" baseline="0" dirty="0" smtClean="0"/>
              <a:t> insiemi di definizione e dev’essere necessariamente libera!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D17CE-C567-4274-9830-9EE3728E6EB4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2451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Il file sorgente è quello</a:t>
            </a:r>
            <a:r>
              <a:rPr lang="it-IT" baseline="0" dirty="0" smtClean="0"/>
              <a:t> scritto dall’utente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D17CE-C567-4274-9830-9EE3728E6EB4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1053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ams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smtClean="0"/>
              <a:t>Tutorial GAMS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 smtClean="0"/>
              <a:t>Parte 1: </a:t>
            </a:r>
            <a:r>
              <a:rPr lang="it-IT" dirty="0" err="1" smtClean="0"/>
              <a:t>basics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4664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Cos’è </a:t>
            </a:r>
            <a:r>
              <a:rPr lang="it-IT" dirty="0" err="1" smtClean="0"/>
              <a:t>gams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Sistema generale di modellazione algebrica (General </a:t>
            </a:r>
            <a:r>
              <a:rPr lang="it-IT" dirty="0" err="1" smtClean="0"/>
              <a:t>algebraic</a:t>
            </a:r>
            <a:r>
              <a:rPr lang="it-IT" dirty="0" smtClean="0"/>
              <a:t> </a:t>
            </a:r>
            <a:r>
              <a:rPr lang="it-IT" dirty="0" err="1" smtClean="0"/>
              <a:t>modeling</a:t>
            </a:r>
            <a:r>
              <a:rPr lang="it-IT" dirty="0" smtClean="0"/>
              <a:t> </a:t>
            </a:r>
            <a:r>
              <a:rPr lang="it-IT" dirty="0" err="1" smtClean="0"/>
              <a:t>system</a:t>
            </a:r>
            <a:r>
              <a:rPr lang="it-IT" dirty="0" smtClean="0"/>
              <a:t>)</a:t>
            </a:r>
          </a:p>
          <a:p>
            <a:r>
              <a:rPr lang="it-IT" dirty="0" smtClean="0"/>
              <a:t>Permette di formulare ed analizzare problemi di ottimizzazione lineare, non lineare e misto intera (lineare e non lineare)</a:t>
            </a:r>
          </a:p>
          <a:p>
            <a:r>
              <a:rPr lang="it-IT" dirty="0" smtClean="0"/>
              <a:t>Si compone di 2 parti</a:t>
            </a:r>
          </a:p>
          <a:p>
            <a:pPr lvl="1"/>
            <a:r>
              <a:rPr lang="it-IT" dirty="0" smtClean="0"/>
              <a:t>Linguaggio per la rappresentazione algebrica di modelli di ottimizzazione</a:t>
            </a:r>
          </a:p>
          <a:p>
            <a:pPr lvl="1"/>
            <a:r>
              <a:rPr lang="it-IT" dirty="0" smtClean="0"/>
              <a:t>Insieme di risolutori utilizzati per la soluzione del problema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34985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Utilizzare </a:t>
            </a:r>
            <a:r>
              <a:rPr lang="it-IT" dirty="0" err="1" smtClean="0"/>
              <a:t>gams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Si può scaricare una versione demo </a:t>
            </a:r>
            <a:r>
              <a:rPr lang="it-IT" dirty="0"/>
              <a:t>compatibile con il proprio sistema operativo</a:t>
            </a:r>
            <a:r>
              <a:rPr lang="it-IT" dirty="0" smtClean="0"/>
              <a:t> dal sito </a:t>
            </a:r>
            <a:r>
              <a:rPr lang="it-IT" dirty="0" smtClean="0">
                <a:hlinkClick r:id="rId3"/>
              </a:rPr>
              <a:t>www.gams.com</a:t>
            </a:r>
            <a:r>
              <a:rPr lang="it-IT" dirty="0" smtClean="0"/>
              <a:t>.</a:t>
            </a:r>
          </a:p>
          <a:p>
            <a:pPr lvl="1"/>
            <a:r>
              <a:rPr lang="it-IT" dirty="0" smtClean="0"/>
              <a:t>La versione demo è Limitata a problemi molto piccoli (pochi vincoli e poche variabili)</a:t>
            </a:r>
          </a:p>
          <a:p>
            <a:r>
              <a:rPr lang="it-IT" dirty="0" smtClean="0"/>
              <a:t>Con </a:t>
            </a:r>
            <a:r>
              <a:rPr lang="it-IT" dirty="0" err="1" smtClean="0"/>
              <a:t>windows</a:t>
            </a:r>
            <a:r>
              <a:rPr lang="it-IT" dirty="0" smtClean="0"/>
              <a:t> viene fornito un ambiente di sviluppo integrato.</a:t>
            </a:r>
          </a:p>
          <a:p>
            <a:r>
              <a:rPr lang="it-IT" dirty="0" smtClean="0"/>
              <a:t>Se si acquista </a:t>
            </a:r>
            <a:r>
              <a:rPr lang="it-IT" dirty="0" err="1" smtClean="0"/>
              <a:t>gams</a:t>
            </a:r>
            <a:r>
              <a:rPr lang="it-IT" dirty="0" smtClean="0"/>
              <a:t> si ottiene sostanzialmente lo «sblocco» dei risolutori che si è interessati ad utilizzare</a:t>
            </a:r>
          </a:p>
        </p:txBody>
      </p:sp>
    </p:spTree>
    <p:extLst>
      <p:ext uri="{BB962C8B-B14F-4D97-AF65-F5344CB8AC3E}">
        <p14:creationId xmlns:p14="http://schemas.microsoft.com/office/powerpoint/2010/main" val="130645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 smtClean="0"/>
              <a:t>alcunI</a:t>
            </a:r>
            <a:r>
              <a:rPr lang="it-IT" dirty="0" smtClean="0"/>
              <a:t> risolutori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Problemi lineari e lineari misto interi - </a:t>
            </a:r>
            <a:r>
              <a:rPr lang="it-IT" dirty="0" err="1" smtClean="0"/>
              <a:t>cplex</a:t>
            </a:r>
            <a:r>
              <a:rPr lang="it-IT" dirty="0" smtClean="0"/>
              <a:t>, </a:t>
            </a:r>
            <a:r>
              <a:rPr lang="it-IT" dirty="0" err="1" smtClean="0"/>
              <a:t>mosek</a:t>
            </a:r>
            <a:r>
              <a:rPr lang="it-IT" dirty="0" smtClean="0"/>
              <a:t>, </a:t>
            </a:r>
            <a:r>
              <a:rPr lang="it-IT" dirty="0" err="1" smtClean="0"/>
              <a:t>gurobi</a:t>
            </a:r>
            <a:endParaRPr lang="it-IT" dirty="0" smtClean="0"/>
          </a:p>
          <a:p>
            <a:r>
              <a:rPr lang="it-IT" dirty="0" smtClean="0"/>
              <a:t>Problemi non lineari – </a:t>
            </a:r>
            <a:r>
              <a:rPr lang="it-IT" dirty="0" err="1" smtClean="0"/>
              <a:t>minos</a:t>
            </a:r>
            <a:r>
              <a:rPr lang="it-IT" dirty="0" smtClean="0"/>
              <a:t>, </a:t>
            </a:r>
            <a:r>
              <a:rPr lang="it-IT" dirty="0" err="1" smtClean="0"/>
              <a:t>ipopt</a:t>
            </a:r>
            <a:endParaRPr lang="it-IT" dirty="0" smtClean="0"/>
          </a:p>
          <a:p>
            <a:r>
              <a:rPr lang="it-IT" dirty="0" smtClean="0"/>
              <a:t>Problemi </a:t>
            </a:r>
            <a:r>
              <a:rPr lang="it-IT" dirty="0" err="1" smtClean="0"/>
              <a:t>nonlineari</a:t>
            </a:r>
            <a:r>
              <a:rPr lang="it-IT" dirty="0" smtClean="0"/>
              <a:t> misto interi – </a:t>
            </a:r>
            <a:r>
              <a:rPr lang="it-IT" dirty="0" err="1" smtClean="0"/>
              <a:t>baron</a:t>
            </a:r>
            <a:r>
              <a:rPr lang="it-IT" dirty="0" smtClean="0"/>
              <a:t>, </a:t>
            </a:r>
            <a:r>
              <a:rPr lang="it-IT" dirty="0" err="1" smtClean="0"/>
              <a:t>emp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4645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Un problema da risolvere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>
          <a:xfrm>
            <a:off x="849120" y="1794437"/>
            <a:ext cx="10363826" cy="4477054"/>
          </a:xfrm>
        </p:spPr>
        <p:txBody>
          <a:bodyPr>
            <a:normAutofit/>
          </a:bodyPr>
          <a:lstStyle/>
          <a:p>
            <a:r>
              <a:rPr lang="it-IT" dirty="0" smtClean="0"/>
              <a:t>Una raffineria acquista due diversi tipi di greggio:</a:t>
            </a:r>
          </a:p>
          <a:p>
            <a:pPr lvl="1"/>
            <a:r>
              <a:rPr lang="it-IT" dirty="0" smtClean="0"/>
              <a:t>Petrolio leggero</a:t>
            </a:r>
          </a:p>
          <a:p>
            <a:pPr lvl="1"/>
            <a:r>
              <a:rPr lang="it-IT" dirty="0" smtClean="0"/>
              <a:t>Petrolio pesante</a:t>
            </a:r>
          </a:p>
          <a:p>
            <a:r>
              <a:rPr lang="it-IT" dirty="0" smtClean="0"/>
              <a:t>I costi per l’acquisto sono rispettivamente 42 e 22.</a:t>
            </a:r>
          </a:p>
          <a:p>
            <a:r>
              <a:rPr lang="it-IT" dirty="0" smtClean="0"/>
              <a:t>Dal greggio l’industria ottiene due prodotti</a:t>
            </a:r>
          </a:p>
          <a:p>
            <a:pPr lvl="1"/>
            <a:r>
              <a:rPr lang="it-IT" dirty="0" smtClean="0"/>
              <a:t>Benzina</a:t>
            </a:r>
          </a:p>
          <a:p>
            <a:pPr lvl="1"/>
            <a:r>
              <a:rPr lang="it-IT" dirty="0" smtClean="0"/>
              <a:t>Gasolio</a:t>
            </a:r>
          </a:p>
          <a:p>
            <a:r>
              <a:rPr lang="it-IT" dirty="0" smtClean="0"/>
              <a:t>La domanda da soddisfare per i due prodotti è rispettivamente 13200 e 8000 </a:t>
            </a:r>
          </a:p>
        </p:txBody>
      </p:sp>
    </p:spTree>
    <p:extLst>
      <p:ext uri="{BB962C8B-B14F-4D97-AF65-F5344CB8AC3E}">
        <p14:creationId xmlns:p14="http://schemas.microsoft.com/office/powerpoint/2010/main" val="349299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Un problema da risolvere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>
          <a:xfrm>
            <a:off x="849120" y="1794437"/>
            <a:ext cx="10363826" cy="4477054"/>
          </a:xfrm>
        </p:spPr>
        <p:txBody>
          <a:bodyPr>
            <a:normAutofit/>
          </a:bodyPr>
          <a:lstStyle/>
          <a:p>
            <a:r>
              <a:rPr lang="it-IT" dirty="0" smtClean="0"/>
              <a:t>La capacità produttiva marginale dei due tipi di greggio è di 55</a:t>
            </a:r>
          </a:p>
          <a:p>
            <a:r>
              <a:rPr lang="it-IT" dirty="0" smtClean="0"/>
              <a:t>La tabella seguente indica le quantità di gasolio e benzina che si ricavano da un unità di petrolio leggero e da un’unità di petrolio pesante</a:t>
            </a:r>
          </a:p>
        </p:txBody>
      </p:sp>
      <p:graphicFrame>
        <p:nvGraphicFramePr>
          <p:cNvPr id="4" name="Tabel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079366"/>
              </p:ext>
            </p:extLst>
          </p:nvPr>
        </p:nvGraphicFramePr>
        <p:xfrm>
          <a:off x="2032000" y="3892340"/>
          <a:ext cx="812799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3736522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3004681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089290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Prod1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Prod2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03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Greggio1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200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100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22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Greggio2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60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50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847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65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Problema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Determinare le quantità di greggio da utilizzare in ogni prodotto per soddisfare la domanda e minimizzare i costi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/>
              <p:cNvSpPr txBox="1"/>
              <p:nvPr/>
            </p:nvSpPr>
            <p:spPr>
              <a:xfrm>
                <a:off x="2332180" y="3315853"/>
                <a:ext cx="4927601" cy="247534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it-IT" sz="32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it-IT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func>
                                    <m:funcPr>
                                      <m:ctrlPr>
                                        <a:rPr lang="it-IT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it-IT" sz="3200" b="0" i="0" smtClean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it-IT" sz="3200" b="0" i="0" smtClean="0">
                                          <a:latin typeface="Cambria Math" panose="02040503050406030204" pitchFamily="18" charset="0"/>
                                        </a:rPr>
                                        <m:t>in</m:t>
                                      </m:r>
                                    </m:fName>
                                    <m:e>
                                      <m:r>
                                        <a:rPr lang="it-IT" sz="3200" b="0" i="1" smtClean="0">
                                          <a:latin typeface="Cambria Math" panose="02040503050406030204" pitchFamily="18" charset="0"/>
                                        </a:rPr>
                                        <m:t>42</m:t>
                                      </m:r>
                                      <m:sSub>
                                        <m:sSubPr>
                                          <m:ctrlPr>
                                            <a:rPr lang="it-IT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it-IT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it-IT" sz="3200" b="0" i="1" smtClean="0">
                                          <a:latin typeface="Cambria Math" panose="02040503050406030204" pitchFamily="18" charset="0"/>
                                        </a:rPr>
                                        <m:t>+22</m:t>
                                      </m:r>
                                      <m:sSub>
                                        <m:sSubPr>
                                          <m:ctrlPr>
                                            <a:rPr lang="it-IT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it-IT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mr>
                              <m:mr>
                                <m:e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.   55</m:t>
                                  </m:r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55</m:t>
                                  </m:r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it-IT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15000</m:t>
                                  </m:r>
                                </m:e>
                              </m:mr>
                            </m:m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it-IT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200</m:t>
                                  </m:r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60</m:t>
                                  </m:r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it-IT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13200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it-IT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8000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it-IT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4" name="CasellaDiTes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180" y="3315853"/>
                <a:ext cx="4927601" cy="24753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sellaDiTesto 4"/>
          <p:cNvSpPr txBox="1"/>
          <p:nvPr/>
        </p:nvSpPr>
        <p:spPr>
          <a:xfrm>
            <a:off x="7412806" y="3417476"/>
            <a:ext cx="3463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Costi totali</a:t>
            </a:r>
            <a:endParaRPr lang="it-IT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7423570" y="3823602"/>
            <a:ext cx="3463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Capacità massima</a:t>
            </a:r>
            <a:endParaRPr lang="it-IT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7423570" y="4264614"/>
            <a:ext cx="3463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Domanda prodotto 1</a:t>
            </a:r>
          </a:p>
        </p:txBody>
      </p:sp>
      <p:sp>
        <p:nvSpPr>
          <p:cNvPr id="8" name="CasellaDiTesto 7"/>
          <p:cNvSpPr txBox="1"/>
          <p:nvPr/>
        </p:nvSpPr>
        <p:spPr>
          <a:xfrm>
            <a:off x="7423570" y="4707534"/>
            <a:ext cx="3463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Domanda prodotto 2</a:t>
            </a:r>
          </a:p>
        </p:txBody>
      </p:sp>
    </p:spTree>
    <p:extLst>
      <p:ext uri="{BB962C8B-B14F-4D97-AF65-F5344CB8AC3E}">
        <p14:creationId xmlns:p14="http://schemas.microsoft.com/office/powerpoint/2010/main" val="3770676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Come funziona </a:t>
            </a:r>
            <a:r>
              <a:rPr lang="it-IT" dirty="0" err="1" smtClean="0"/>
              <a:t>gams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it-IT" dirty="0" smtClean="0"/>
              <a:t>I modelli descritti in </a:t>
            </a:r>
            <a:r>
              <a:rPr lang="it-IT" dirty="0" err="1" smtClean="0"/>
              <a:t>gams</a:t>
            </a:r>
            <a:r>
              <a:rPr lang="it-IT" dirty="0" smtClean="0"/>
              <a:t> consistono di 6 parti principali: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 smtClean="0"/>
              <a:t>Scelta del risolutore da utilizzare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 smtClean="0"/>
              <a:t>Definizione degli insiemi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 smtClean="0"/>
              <a:t>Definizione dei dati di input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 smtClean="0"/>
              <a:t>Definizione delle variabili del </a:t>
            </a:r>
            <a:r>
              <a:rPr lang="it-IT" dirty="0" smtClean="0"/>
              <a:t>modello</a:t>
            </a:r>
          </a:p>
          <a:p>
            <a:pPr lvl="2"/>
            <a:r>
              <a:rPr lang="it-IT" dirty="0" smtClean="0"/>
              <a:t>Eventuale assegnazione degli estremi per la variabile</a:t>
            </a:r>
            <a:endParaRPr lang="it-IT" dirty="0" smtClean="0"/>
          </a:p>
          <a:p>
            <a:pPr marL="800100" lvl="1" indent="-342900">
              <a:buFont typeface="+mj-lt"/>
              <a:buAutoNum type="arabicPeriod"/>
            </a:pPr>
            <a:r>
              <a:rPr lang="it-IT" dirty="0" smtClean="0"/>
              <a:t>Definizione delle equazioni e disequazioni del modello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 smtClean="0"/>
              <a:t>Risoluzione del </a:t>
            </a:r>
            <a:r>
              <a:rPr lang="it-IT" dirty="0" smtClean="0"/>
              <a:t>modello</a:t>
            </a:r>
          </a:p>
          <a:p>
            <a:pPr lvl="2"/>
            <a:r>
              <a:rPr lang="it-IT" dirty="0" smtClean="0"/>
              <a:t>Eventuali richieste di visualizzazione di output </a:t>
            </a:r>
            <a:r>
              <a:rPr lang="it-IT" dirty="0" err="1" smtClean="0"/>
              <a:t>customizzato</a:t>
            </a:r>
            <a:r>
              <a:rPr lang="it-IT" dirty="0" smtClean="0"/>
              <a:t> </a:t>
            </a:r>
            <a:endParaRPr lang="it-IT" dirty="0" smtClean="0"/>
          </a:p>
        </p:txBody>
      </p:sp>
    </p:spTree>
    <p:extLst>
      <p:ext uri="{BB962C8B-B14F-4D97-AF65-F5344CB8AC3E}">
        <p14:creationId xmlns:p14="http://schemas.microsoft.com/office/powerpoint/2010/main" val="222949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Scelta del risolutore da utilizzare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it-IT" dirty="0" err="1" smtClean="0"/>
              <a:t>Ii</a:t>
            </a:r>
            <a:r>
              <a:rPr lang="it-IT" dirty="0" smtClean="0"/>
              <a:t> risolutori disponibili si possono controllare in file -&gt; </a:t>
            </a:r>
            <a:r>
              <a:rPr lang="it-IT" dirty="0" err="1" smtClean="0"/>
              <a:t>options</a:t>
            </a:r>
            <a:r>
              <a:rPr lang="it-IT" dirty="0" smtClean="0"/>
              <a:t> -&gt; </a:t>
            </a:r>
            <a:r>
              <a:rPr lang="it-IT" dirty="0" err="1" smtClean="0"/>
              <a:t>solvers</a:t>
            </a:r>
            <a:endParaRPr lang="it-IT" dirty="0" smtClean="0"/>
          </a:p>
          <a:p>
            <a:r>
              <a:rPr lang="it-IT" dirty="0" smtClean="0"/>
              <a:t>I tipi di Problemi da risolvere possono essere di programmazione </a:t>
            </a:r>
            <a:r>
              <a:rPr lang="it-IT" cap="none" dirty="0" smtClean="0"/>
              <a:t>LINEARE</a:t>
            </a:r>
            <a:r>
              <a:rPr lang="it-IT" dirty="0" smtClean="0"/>
              <a:t> (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lp</a:t>
            </a:r>
            <a:r>
              <a:rPr lang="it-IT" dirty="0" smtClean="0"/>
              <a:t>),</a:t>
            </a:r>
            <a:r>
              <a:rPr lang="it-IT" dirty="0"/>
              <a:t> di programmazione </a:t>
            </a:r>
            <a:r>
              <a:rPr lang="it-IT" dirty="0" smtClean="0"/>
              <a:t>NON</a:t>
            </a:r>
            <a:r>
              <a:rPr lang="it-IT" cap="none" dirty="0" smtClean="0"/>
              <a:t>LINEARE</a:t>
            </a:r>
            <a:r>
              <a:rPr lang="it-IT" dirty="0" smtClean="0"/>
              <a:t> (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nlp</a:t>
            </a:r>
            <a:r>
              <a:rPr lang="it-IT" dirty="0" smtClean="0"/>
              <a:t>) O PROGRAMMAZIONE MISTO INTERA LINEARE (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mip</a:t>
            </a:r>
            <a:r>
              <a:rPr lang="it-IT" dirty="0" smtClean="0"/>
              <a:t>)</a:t>
            </a:r>
          </a:p>
          <a:p>
            <a:r>
              <a:rPr lang="it-IT" dirty="0" smtClean="0"/>
              <a:t>Per scegliere il risolutore si usa il comando 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Option</a:t>
            </a:r>
            <a:endParaRPr lang="it-IT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it-IT" sz="20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Option </a:t>
            </a:r>
            <a:r>
              <a:rPr lang="it-IT" sz="2000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</a:t>
            </a:r>
            <a:r>
              <a:rPr lang="it-IT" sz="20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it-IT" sz="2000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cplex</a:t>
            </a:r>
            <a:endParaRPr lang="it-IT" sz="2000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it-IT" sz="20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Option </a:t>
            </a:r>
            <a:r>
              <a:rPr lang="it-IT" sz="2000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nlp</a:t>
            </a:r>
            <a:r>
              <a:rPr lang="it-IT" sz="20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it-IT" sz="2000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minos</a:t>
            </a:r>
            <a:endParaRPr lang="it-IT" sz="2000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t-IT" dirty="0" smtClean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50449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Definizione degli insiemi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Un insieme viene definito usando il comando 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it-IT" dirty="0"/>
              <a:t>seguito dal nome </a:t>
            </a:r>
            <a:r>
              <a:rPr lang="it-IT" dirty="0" smtClean="0"/>
              <a:t>dell’insieme, da un’eventuale descrizione e dall’elenco degli elementi racchiusi dal simbolo /</a:t>
            </a:r>
          </a:p>
          <a:p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Set J tipi di greggio (leggero e pesante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/greggio1,greggio2/;</a:t>
            </a:r>
          </a:p>
          <a:p>
            <a:r>
              <a:rPr lang="it-IT" dirty="0"/>
              <a:t>IL LINGUAGGIO GAMS NON DISTINGUE TRA MAIUSCOLE E MINUSCOLE</a:t>
            </a:r>
          </a:p>
          <a:p>
            <a:r>
              <a:rPr lang="it-IT" dirty="0"/>
              <a:t>OGNI ISTRUZIONE TERMINA CON IL PUNTO E VIRGOLA (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it-IT" dirty="0"/>
              <a:t>)</a:t>
            </a:r>
          </a:p>
          <a:p>
            <a:endParaRPr lang="it-IT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10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Definizione degli insiemi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È possibile scrivere una lista ordinata di elementi utilizzando l’asterisco</a:t>
            </a:r>
          </a:p>
          <a:p>
            <a:r>
              <a:rPr lang="it-IT" dirty="0" smtClean="0"/>
              <a:t>Invece di scrivere</a:t>
            </a:r>
          </a:p>
          <a:p>
            <a:pPr marL="457200" lvl="1" indent="0">
              <a:buNone/>
            </a:pPr>
            <a:r>
              <a:rPr lang="it-IT" sz="2000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it-IT" sz="20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PRODOTTI della raffineria /</a:t>
            </a:r>
            <a:r>
              <a:rPr lang="it-IT" sz="2000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prod1,prod2,prod3,prod4,prod5/;</a:t>
            </a:r>
          </a:p>
          <a:p>
            <a:r>
              <a:rPr lang="it-IT" dirty="0" smtClean="0"/>
              <a:t>Si può scrivere</a:t>
            </a:r>
          </a:p>
          <a:p>
            <a:pPr marL="457200" lvl="1" indent="0">
              <a:buNone/>
            </a:pPr>
            <a:r>
              <a:rPr lang="it-IT" sz="2000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it-IT" sz="20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PRODOTTI della raffineria /prod1*prod5/</a:t>
            </a:r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9300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Definizione degli insiemi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È anche possibile assegnare nomi diversi allo stesso insieme, attraverso il comando 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Alias.</a:t>
            </a:r>
          </a:p>
          <a:p>
            <a:pPr marL="457200" lvl="1" indent="0">
              <a:buNone/>
            </a:pP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Alias (Prodotti, K)</a:t>
            </a:r>
          </a:p>
        </p:txBody>
      </p:sp>
    </p:spTree>
    <p:extLst>
      <p:ext uri="{BB962C8B-B14F-4D97-AF65-F5344CB8AC3E}">
        <p14:creationId xmlns:p14="http://schemas.microsoft.com/office/powerpoint/2010/main" val="1504939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Definizione dei parametri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it-IT" dirty="0" smtClean="0"/>
              <a:t>Un parametro viene definito usando il comando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Parameter</a:t>
            </a:r>
            <a:r>
              <a:rPr lang="it-IT" dirty="0" smtClean="0"/>
              <a:t> oppure 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it-IT" dirty="0"/>
              <a:t>Nei parametri del modello vengono definiti i dati di input e gli eventuali calcoli </a:t>
            </a:r>
            <a:r>
              <a:rPr lang="it-IT" dirty="0" smtClean="0"/>
              <a:t>intermedi</a:t>
            </a:r>
          </a:p>
          <a:p>
            <a:r>
              <a:rPr lang="it-IT" dirty="0" smtClean="0"/>
              <a:t>Per definire il parametro si usa il nome del parametro e tra parentesi si segnano gli insiemi su cui è definito</a:t>
            </a:r>
          </a:p>
        </p:txBody>
      </p:sp>
    </p:spTree>
    <p:extLst>
      <p:ext uri="{BB962C8B-B14F-4D97-AF65-F5344CB8AC3E}">
        <p14:creationId xmlns:p14="http://schemas.microsoft.com/office/powerpoint/2010/main" val="356408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Definizione dei parametri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Parameter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h(K) vettore delle domande /prod1=13200, prod2=8000/;</a:t>
            </a:r>
          </a:p>
          <a:p>
            <a:pPr marL="0" indent="0">
              <a:buNone/>
            </a:pP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Parameter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b(J)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capacita’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. Marginale /</a:t>
            </a:r>
          </a:p>
          <a:p>
            <a:pPr marL="0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greggio1=55</a:t>
            </a:r>
          </a:p>
          <a:p>
            <a:pPr marL="0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greggio2=55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/;</a:t>
            </a:r>
          </a:p>
          <a:p>
            <a:pPr marL="0" indent="0">
              <a:buNone/>
            </a:pPr>
            <a:endParaRPr lang="it-IT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18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Definizione dei parametri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Parameter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P(J,K)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quantita’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di greggio j per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unita’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di prodotto k /</a:t>
            </a:r>
          </a:p>
          <a:p>
            <a:pPr marL="0" indent="0">
              <a:buNone/>
            </a:pP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greggio1.prod1 = 200</a:t>
            </a:r>
          </a:p>
          <a:p>
            <a:pPr marL="0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reggio1.prod2 = 60</a:t>
            </a:r>
          </a:p>
          <a:p>
            <a:pPr marL="0" indent="0">
              <a:buNone/>
            </a:pP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greggio2.prod1 = 100</a:t>
            </a:r>
          </a:p>
          <a:p>
            <a:pPr marL="0" indent="0">
              <a:buNone/>
            </a:pP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greggio2.prod2 = 50</a:t>
            </a:r>
          </a:p>
          <a:p>
            <a:pPr marL="0" indent="0">
              <a:buNone/>
            </a:pP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/;</a:t>
            </a:r>
            <a:endParaRPr lang="it-IT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05751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Definizione delle variabili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>
          <a:xfrm>
            <a:off x="913775" y="2080765"/>
            <a:ext cx="10363826" cy="3932108"/>
          </a:xfrm>
        </p:spPr>
        <p:txBody>
          <a:bodyPr>
            <a:normAutofit lnSpcReduction="10000"/>
          </a:bodyPr>
          <a:lstStyle/>
          <a:p>
            <a:r>
              <a:rPr lang="it-IT" dirty="0" smtClean="0"/>
              <a:t>Ogni variabile è dichiarata usando uno dei seguenti comandi:</a:t>
            </a:r>
          </a:p>
          <a:p>
            <a:pPr lvl="1"/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it-IT" sz="2000" dirty="0"/>
              <a:t>VARIABILI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2000" dirty="0"/>
              <a:t>CONTINUE</a:t>
            </a:r>
          </a:p>
          <a:p>
            <a:pPr lvl="1"/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Positive 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2000" dirty="0"/>
              <a:t>VARIABILI CONTINUE NON NEGATIVE</a:t>
            </a:r>
          </a:p>
          <a:p>
            <a:pPr lvl="1"/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Binary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sz="2000" dirty="0"/>
              <a:t>VARIABILI DI TIPO {0,1}</a:t>
            </a:r>
          </a:p>
          <a:p>
            <a:pPr lvl="1"/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2000" dirty="0"/>
              <a:t>VARIABILI DISCRETE {0,1,2,3,4,5</a:t>
            </a:r>
            <a:r>
              <a:rPr lang="it-IT" sz="2000" dirty="0" smtClean="0"/>
              <a:t>…}</a:t>
            </a:r>
          </a:p>
          <a:p>
            <a:r>
              <a:rPr lang="it-IT" sz="2200" dirty="0" smtClean="0"/>
              <a:t>Dopo il comando si scrive il nome della variabile</a:t>
            </a:r>
          </a:p>
          <a:p>
            <a:pPr lvl="1"/>
            <a:r>
              <a:rPr lang="it-IT" sz="2000" dirty="0" smtClean="0"/>
              <a:t>Tra parentesi si scrive la lista degli insiemi su cui è definita</a:t>
            </a:r>
          </a:p>
          <a:p>
            <a:pPr lvl="1"/>
            <a:r>
              <a:rPr lang="it-IT" sz="2000" dirty="0" smtClean="0"/>
              <a:t>Poi si inserisce una eventuale descrizione</a:t>
            </a:r>
          </a:p>
          <a:p>
            <a:pPr marL="457200" lvl="1" indent="0">
              <a:buNone/>
            </a:pP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Positive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x(J)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quantita’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ottima di 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greggio;</a:t>
            </a:r>
            <a:endParaRPr lang="it-IT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036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Definizione delle variabili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it-IT" dirty="0" smtClean="0"/>
              <a:t>Una volta definite le variabili si può assegnar loro dei limiti di variazione </a:t>
            </a:r>
          </a:p>
          <a:p>
            <a:pPr lvl="1"/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.up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(J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)=50, </a:t>
            </a:r>
            <a:r>
              <a:rPr lang="it-IT" sz="2000" dirty="0"/>
              <a:t>vuol dire che la variabile 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x(J) </a:t>
            </a:r>
            <a:r>
              <a:rPr lang="it-IT" sz="2000" dirty="0"/>
              <a:t>può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2000" dirty="0"/>
              <a:t>assumere al massimo valore 50</a:t>
            </a:r>
          </a:p>
          <a:p>
            <a:pPr lvl="1"/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x.lo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(J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)=10.</a:t>
            </a:r>
          </a:p>
          <a:p>
            <a:r>
              <a:rPr lang="it-IT" dirty="0" smtClean="0"/>
              <a:t>Anche </a:t>
            </a:r>
            <a:r>
              <a:rPr lang="it-IT" dirty="0" smtClean="0"/>
              <a:t>alla funzione obiettivo si associa una variabile (libera)</a:t>
            </a:r>
          </a:p>
          <a:p>
            <a:pPr marL="0" indent="0">
              <a:buNone/>
            </a:pP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800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it-IT" sz="1800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lang="it-IT" sz="1800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it-IT" dirty="0"/>
              <a:t>TALE VARIABILE VIENE </a:t>
            </a:r>
            <a:r>
              <a:rPr lang="it-IT" dirty="0" smtClean="0"/>
              <a:t>ASSOCIATA ALLA FUNZIONE OBIETTIVO IN UNA EQUAZIONE </a:t>
            </a:r>
          </a:p>
          <a:p>
            <a:pPr marL="0" indent="0">
              <a:buNone/>
            </a:pPr>
            <a:r>
              <a:rPr lang="it-IT" sz="1800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z =e= </a:t>
            </a:r>
            <a:r>
              <a:rPr lang="it-IT" sz="1800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f.o</a:t>
            </a:r>
            <a:r>
              <a:rPr lang="it-IT" sz="1800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it-IT" dirty="0" smtClean="0"/>
              <a:t> </a:t>
            </a:r>
          </a:p>
          <a:p>
            <a:pPr marL="0" indent="0">
              <a:buNone/>
            </a:pPr>
            <a:r>
              <a:rPr lang="it-IT" dirty="0" smtClean="0"/>
              <a:t>   e viene in seguito MASSIMIZZATA </a:t>
            </a:r>
            <a:r>
              <a:rPr lang="it-IT" dirty="0"/>
              <a:t>O </a:t>
            </a:r>
            <a:r>
              <a:rPr lang="it-IT" dirty="0" smtClean="0"/>
              <a:t>MINIMIZZATA nella risoluzione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8662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Definizione delle equazioni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 smtClean="0"/>
              <a:t>Si definiscono in 2 fasi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 smtClean="0"/>
              <a:t>Dichiarazione delle equazioni con gli insiemi in cui sono definite tra parentesi </a:t>
            </a:r>
          </a:p>
          <a:p>
            <a:pPr marL="457200" lvl="1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Equation 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capacita 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capacita’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produttiva della raffineria;</a:t>
            </a:r>
            <a:endParaRPr lang="it-IT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1" indent="-342900">
              <a:buFont typeface="+mj-lt"/>
              <a:buAutoNum type="arabicPeriod" startAt="2"/>
            </a:pPr>
            <a:r>
              <a:rPr lang="it-IT" dirty="0" smtClean="0"/>
              <a:t>Ulteriore scrittura del nome dell’equazione seguita da due punti e relativa implementazione</a:t>
            </a:r>
          </a:p>
          <a:p>
            <a:pPr marL="457200" lvl="1" indent="0">
              <a:buNone/>
            </a:pP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capacita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..</a:t>
            </a:r>
          </a:p>
          <a:p>
            <a:pPr marL="457200" lvl="1" indent="0">
              <a:buNone/>
            </a:pPr>
            <a:r>
              <a:rPr lang="it-IT" dirty="0"/>
              <a:t>	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Sum(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J,b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(J)*x(J)) =l= 15000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800100" lvl="1" indent="-342900">
              <a:buFont typeface="+mj-lt"/>
              <a:buAutoNum type="arabicPeriod" startAt="3"/>
            </a:pPr>
            <a:r>
              <a:rPr lang="it-IT" dirty="0"/>
              <a:t>Un esempio di somma su due indici</a:t>
            </a:r>
          </a:p>
          <a:p>
            <a:pPr marL="457200" lvl="1" indent="0">
              <a:buNone/>
            </a:pP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Sum((I,J),b(I,J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)*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x(I,J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)) =l= 15000;</a:t>
            </a:r>
          </a:p>
          <a:p>
            <a:pPr marL="457200" lvl="1" indent="0">
              <a:buNone/>
            </a:pPr>
            <a:endParaRPr lang="it-IT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1" indent="-342900">
              <a:buFont typeface="+mj-lt"/>
              <a:buAutoNum type="arabicPeriod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77996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operatori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Operatore di minore o uguale </a:t>
            </a:r>
            <a:r>
              <a:rPr lang="it-IT" dirty="0" smtClean="0">
                <a:sym typeface="Wingdings" panose="05000000000000000000" pitchFamily="2" charset="2"/>
              </a:rPr>
              <a:t> </a:t>
            </a: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=l=</a:t>
            </a:r>
          </a:p>
          <a:p>
            <a:r>
              <a:rPr lang="it-IT" dirty="0" smtClean="0">
                <a:sym typeface="Wingdings" panose="05000000000000000000" pitchFamily="2" charset="2"/>
              </a:rPr>
              <a:t>Operatore di maggiore o uguale  </a:t>
            </a: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=g=</a:t>
            </a:r>
          </a:p>
          <a:p>
            <a:r>
              <a:rPr lang="it-IT" dirty="0" smtClean="0">
                <a:sym typeface="Wingdings" panose="05000000000000000000" pitchFamily="2" charset="2"/>
              </a:rPr>
              <a:t>Operatore di uguale  </a:t>
            </a: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=e</a:t>
            </a:r>
            <a:r>
              <a:rPr lang="it-IT" sz="1800" cap="none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=</a:t>
            </a:r>
          </a:p>
          <a:p>
            <a:r>
              <a:rPr lang="it-IT" dirty="0">
                <a:sym typeface="Wingdings" panose="05000000000000000000" pitchFamily="2" charset="2"/>
              </a:rPr>
              <a:t>Somma nell’insieme J </a:t>
            </a:r>
            <a:r>
              <a:rPr lang="it-IT" sz="1800" cap="none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sum(</a:t>
            </a:r>
            <a:r>
              <a:rPr lang="it-IT" sz="1800" cap="none" dirty="0" err="1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J,parametri</a:t>
            </a:r>
            <a:r>
              <a:rPr lang="it-IT" sz="1800" cap="none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(J)*variabili(J));</a:t>
            </a:r>
            <a:endParaRPr lang="it-IT" sz="1800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54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Risoluzione del modello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Dopo aver implementato tutte le equazioni si procede a risolvere il modello. Anche questo si fa in due fasi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 smtClean="0"/>
              <a:t>Definizione del modello </a:t>
            </a:r>
          </a:p>
          <a:p>
            <a:pPr lvl="2"/>
            <a:r>
              <a:rPr lang="it-IT" dirty="0" smtClean="0"/>
              <a:t>Cioè scrittura della lista di equazioni che definiscono il modello. A questa lista si da un nome.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 smtClean="0"/>
              <a:t>Inserimento dell’istruzione 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Solve</a:t>
            </a:r>
          </a:p>
        </p:txBody>
      </p:sp>
    </p:spTree>
    <p:extLst>
      <p:ext uri="{BB962C8B-B14F-4D97-AF65-F5344CB8AC3E}">
        <p14:creationId xmlns:p14="http://schemas.microsoft.com/office/powerpoint/2010/main" val="1657591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Risoluzione del modello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Model Raffineria pianificazione di una raffineria /obiettivo, capacita, domanda/;</a:t>
            </a:r>
          </a:p>
          <a:p>
            <a:pPr marL="0" indent="0">
              <a:buNone/>
            </a:pP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Solve Raffineria </a:t>
            </a:r>
            <a:r>
              <a:rPr lang="it-IT" sz="1800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Minimizing</a:t>
            </a: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z Using </a:t>
            </a:r>
            <a:r>
              <a:rPr lang="it-IT" sz="1800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</a:t>
            </a: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9936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egnaposto contenuto 5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272" y="0"/>
            <a:ext cx="8197637" cy="6890255"/>
          </a:xfrm>
        </p:spPr>
      </p:pic>
    </p:spTree>
    <p:extLst>
      <p:ext uri="{BB962C8B-B14F-4D97-AF65-F5344CB8AC3E}">
        <p14:creationId xmlns:p14="http://schemas.microsoft.com/office/powerpoint/2010/main" val="2680575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contenuto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69" y="295563"/>
            <a:ext cx="11858276" cy="6294582"/>
          </a:xfrm>
        </p:spPr>
      </p:pic>
    </p:spTree>
    <p:extLst>
      <p:ext uri="{BB962C8B-B14F-4D97-AF65-F5344CB8AC3E}">
        <p14:creationId xmlns:p14="http://schemas.microsoft.com/office/powerpoint/2010/main" val="413641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Output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 smtClean="0"/>
              <a:t>L’output viene riportato sull’ide e su un file .</a:t>
            </a:r>
            <a:r>
              <a:rPr lang="it-IT" dirty="0" err="1" smtClean="0"/>
              <a:t>lst</a:t>
            </a:r>
            <a:endParaRPr lang="it-IT" dirty="0" smtClean="0"/>
          </a:p>
          <a:p>
            <a:r>
              <a:rPr lang="it-IT" dirty="0" smtClean="0"/>
              <a:t>In questo file viene riportato tutto il codice contenuto nel file sorgente con le righe numerate</a:t>
            </a:r>
          </a:p>
          <a:p>
            <a:r>
              <a:rPr lang="it-IT" dirty="0" smtClean="0"/>
              <a:t>in assenza di errori l’output elenca tutte le equazioni e le variabili descritte nel modello, dei loro coefficienti e del valore inizialmente assunto</a:t>
            </a:r>
          </a:p>
          <a:p>
            <a:r>
              <a:rPr lang="it-IT" dirty="0" smtClean="0"/>
              <a:t>Infine viene riportato l’output della vera e propria esecuzione, ossia l’elaborazione del modello attraverso l’avvio di uno specifico risolutore.</a:t>
            </a:r>
          </a:p>
          <a:p>
            <a:endParaRPr lang="it-IT" sz="1800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7509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output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Nella parte finale dell’output si elenca</a:t>
            </a:r>
          </a:p>
          <a:p>
            <a:pPr lvl="1"/>
            <a:r>
              <a:rPr lang="it-IT" dirty="0" smtClean="0"/>
              <a:t>Lo stato dell’ottimizzazione (se ci sono stati problemi)</a:t>
            </a:r>
          </a:p>
          <a:p>
            <a:pPr lvl="1"/>
            <a:r>
              <a:rPr lang="it-IT" dirty="0" smtClean="0"/>
              <a:t>Lo stato del modello (</a:t>
            </a:r>
            <a:r>
              <a:rPr lang="it-IT" dirty="0" err="1" smtClean="0"/>
              <a:t>optimal</a:t>
            </a:r>
            <a:r>
              <a:rPr lang="it-IT" dirty="0" smtClean="0"/>
              <a:t>, </a:t>
            </a:r>
            <a:r>
              <a:rPr lang="it-IT" dirty="0" err="1" smtClean="0"/>
              <a:t>infeasible</a:t>
            </a:r>
            <a:r>
              <a:rPr lang="it-IT" dirty="0" smtClean="0"/>
              <a:t>, </a:t>
            </a:r>
            <a:r>
              <a:rPr lang="it-IT" dirty="0" err="1" smtClean="0"/>
              <a:t>unbounded</a:t>
            </a:r>
            <a:r>
              <a:rPr lang="it-IT" dirty="0" smtClean="0"/>
              <a:t>)</a:t>
            </a:r>
          </a:p>
          <a:p>
            <a:pPr lvl="1"/>
            <a:r>
              <a:rPr lang="it-IT" dirty="0" smtClean="0"/>
              <a:t>Il valore della funzione obiettivo</a:t>
            </a:r>
          </a:p>
          <a:p>
            <a:r>
              <a:rPr lang="it-IT" dirty="0" smtClean="0"/>
              <a:t>A seguito vengono elencati i valori delle equazioni all’ottimo e i relativi </a:t>
            </a:r>
            <a:r>
              <a:rPr lang="it-IT" dirty="0" err="1" smtClean="0"/>
              <a:t>bound</a:t>
            </a:r>
            <a:r>
              <a:rPr lang="it-IT" dirty="0" smtClean="0"/>
              <a:t>.</a:t>
            </a:r>
          </a:p>
          <a:p>
            <a:r>
              <a:rPr lang="it-IT" dirty="0" smtClean="0"/>
              <a:t>Infine vengono elencati i valori delle variabili all’ottimo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6282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contenuto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40" y="0"/>
            <a:ext cx="11561495" cy="6858000"/>
          </a:xfrm>
        </p:spPr>
      </p:pic>
    </p:spTree>
    <p:extLst>
      <p:ext uri="{BB962C8B-B14F-4D97-AF65-F5344CB8AC3E}">
        <p14:creationId xmlns:p14="http://schemas.microsoft.com/office/powerpoint/2010/main" val="6780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contenuto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783" y="0"/>
            <a:ext cx="6842545" cy="6862554"/>
          </a:xfrm>
        </p:spPr>
      </p:pic>
    </p:spTree>
    <p:extLst>
      <p:ext uri="{BB962C8B-B14F-4D97-AF65-F5344CB8AC3E}">
        <p14:creationId xmlns:p14="http://schemas.microsoft.com/office/powerpoint/2010/main" val="199793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LAB: setup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endParaRPr lang="it-IT" dirty="0" smtClean="0"/>
              </a:p>
              <a:p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𝑖𝑚𝑝𝑖𝑎𝑛𝑡𝑖</m:t>
                    </m:r>
                  </m:oMath>
                </a14:m>
                <a:endParaRPr lang="it-IT" b="0" dirty="0" smtClean="0"/>
              </a:p>
              <a:p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𝑚𝑒𝑟𝑐𝑎𝑡𝑖</m:t>
                    </m:r>
                  </m:oMath>
                </a14:m>
                <a:endParaRPr lang="it-IT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𝑜𝑓𝑓𝑒𝑟𝑡𝑎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𝑑𝑒𝑙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𝑝𝑟𝑜𝑑𝑜𝑡𝑡𝑜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𝑑𝑎𝑙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𝑖𝑚𝑝𝑖𝑎𝑛𝑡𝑜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it-IT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𝑑𝑜𝑚𝑎𝑛𝑑𝑎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𝑝𝑒𝑟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𝑖𝑙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𝑝𝑟𝑜𝑑𝑜𝑡𝑡𝑜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𝑑𝑎𝑙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𝑚𝑒𝑟𝑐𝑎𝑡𝑜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it-IT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𝑐𝑜𝑠𝑡𝑜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𝑢𝑛𝑖𝑡𝑎𝑟𝑖𝑜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𝑝𝑒𝑟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𝑡𝑟𝑎𝑠𝑝𝑜𝑟𝑡𝑎𝑟𝑒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𝑖𝑙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𝑝𝑟𝑜𝑑𝑜𝑡𝑡𝑜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𝑑𝑎𝑙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𝑖𝑚𝑝𝑖𝑎𝑛𝑡𝑜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𝑚𝑒𝑟𝑐𝑎𝑡𝑜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it-IT" dirty="0" smtClean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5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4768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Lab: modello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/>
              <p:cNvSpPr txBox="1"/>
              <p:nvPr/>
            </p:nvSpPr>
            <p:spPr>
              <a:xfrm>
                <a:off x="3463636" y="1891741"/>
                <a:ext cx="5661891" cy="472090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/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</m:func>
                      <m:r>
                        <a:rPr lang="it-IT" sz="3200" i="1">
                          <a:latin typeface="Cambria Math" panose="02040503050406030204" pitchFamily="18" charset="0"/>
                        </a:rPr>
                        <m:t>      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it-IT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it-IT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it-IT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it-IT" sz="3200" dirty="0"/>
              </a:p>
              <a:p>
                <a:r>
                  <a:rPr lang="it-IT" sz="3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Soggetto ai vincoli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it-IT" sz="3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it-IT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it-IT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it-IT" sz="3200" dirty="0">
                  <a:latin typeface="Courier New" panose="02070309020205020404" pitchFamily="49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it-IT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it-IT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it-IT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it-IT" sz="3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𝑥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𝑖</m:t>
                          </m:r>
                          <m:r>
                            <a:rPr lang="it-IT" sz="32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,</m:t>
                          </m:r>
                          <m:r>
                            <a:rPr lang="it-IT" sz="32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𝑗</m:t>
                          </m:r>
                        </m:sub>
                      </m:sSub>
                      <m:r>
                        <a:rPr lang="it-IT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≥0</m:t>
                      </m:r>
                    </m:oMath>
                  </m:oMathPara>
                </a14:m>
                <a:endParaRPr lang="it-IT" sz="3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4" name="CasellaDiTes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36" y="1891741"/>
                <a:ext cx="5661891" cy="4720908"/>
              </a:xfrm>
              <a:prstGeom prst="rect">
                <a:avLst/>
              </a:prstGeom>
              <a:blipFill>
                <a:blip r:embed="rId2"/>
                <a:stretch>
                  <a:fillRect l="-418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067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Lab: dati</a:t>
            </a:r>
            <a:endParaRPr lang="it-IT" dirty="0"/>
          </a:p>
        </p:txBody>
      </p:sp>
      <p:graphicFrame>
        <p:nvGraphicFramePr>
          <p:cNvPr id="4" name="Segnaposto contenuto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619221719"/>
              </p:ext>
            </p:extLst>
          </p:nvPr>
        </p:nvGraphicFramePr>
        <p:xfrm>
          <a:off x="914400" y="2366963"/>
          <a:ext cx="10363200" cy="2225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72640">
                  <a:extLst>
                    <a:ext uri="{9D8B030D-6E8A-4147-A177-3AD203B41FA5}">
                      <a16:colId xmlns:a16="http://schemas.microsoft.com/office/drawing/2014/main" val="335634781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386168025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245143740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1906334194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3464953065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it-IT" dirty="0" smtClean="0"/>
                        <a:t>Costi</a:t>
                      </a:r>
                      <a:endParaRPr lang="it-I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09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b="1" dirty="0" smtClean="0"/>
                        <a:t>Mercati</a:t>
                      </a:r>
                      <a:endParaRPr lang="it-IT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73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b="1" dirty="0" smtClean="0"/>
                        <a:t>Impianti</a:t>
                      </a:r>
                      <a:endParaRPr lang="it-IT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i="1" dirty="0" smtClean="0"/>
                        <a:t>New York</a:t>
                      </a:r>
                      <a:endParaRPr lang="it-IT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i="1" dirty="0" smtClean="0"/>
                        <a:t>Chicago</a:t>
                      </a:r>
                      <a:endParaRPr lang="it-IT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i="1" dirty="0" smtClean="0"/>
                        <a:t>Topeka</a:t>
                      </a:r>
                      <a:endParaRPr lang="it-IT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 smtClean="0"/>
                        <a:t>Fornitura </a:t>
                      </a:r>
                      <a:r>
                        <a:rPr lang="it-IT" b="1" dirty="0" err="1" smtClean="0"/>
                        <a:t>max</a:t>
                      </a:r>
                      <a:endParaRPr lang="it-IT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079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i="1" dirty="0" smtClean="0"/>
                        <a:t>Seattle</a:t>
                      </a:r>
                      <a:endParaRPr lang="it-IT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2.5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1.7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1.8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350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484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i="1" dirty="0" smtClean="0"/>
                        <a:t>San</a:t>
                      </a:r>
                      <a:r>
                        <a:rPr lang="it-IT" i="1" baseline="0" dirty="0" smtClean="0"/>
                        <a:t> Diego</a:t>
                      </a:r>
                      <a:endParaRPr lang="it-IT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2.5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1.8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1.4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600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917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i="1" dirty="0" smtClean="0"/>
                        <a:t>Domanda</a:t>
                      </a:r>
                      <a:endParaRPr lang="it-IT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325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300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275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383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476059"/>
      </p:ext>
    </p:extLst>
  </p:cSld>
  <p:clrMapOvr>
    <a:masterClrMapping/>
  </p:clrMapOvr>
</p:sld>
</file>

<file path=ppt/theme/theme1.xml><?xml version="1.0" encoding="utf-8"?>
<a:theme xmlns:a="http://schemas.openxmlformats.org/drawingml/2006/main" name="Goccia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TM04033925[[fn=Goccia]]</Template>
  <TotalTime>359</TotalTime>
  <Words>1135</Words>
  <Application>Microsoft Office PowerPoint</Application>
  <PresentationFormat>Widescreen</PresentationFormat>
  <Paragraphs>194</Paragraphs>
  <Slides>30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7" baseType="lpstr">
      <vt:lpstr>Arial</vt:lpstr>
      <vt:lpstr>Calibri</vt:lpstr>
      <vt:lpstr>Cambria Math</vt:lpstr>
      <vt:lpstr>Courier New</vt:lpstr>
      <vt:lpstr>Tw Cen MT</vt:lpstr>
      <vt:lpstr>Wingdings</vt:lpstr>
      <vt:lpstr>Goccia</vt:lpstr>
      <vt:lpstr>Tutorial GAMS</vt:lpstr>
      <vt:lpstr>Cos’è gams</vt:lpstr>
      <vt:lpstr>Utilizzare gams</vt:lpstr>
      <vt:lpstr>alcunI risolutori</vt:lpstr>
      <vt:lpstr>Un problema da risolvere</vt:lpstr>
      <vt:lpstr>Un problema da risolvere</vt:lpstr>
      <vt:lpstr>Problema</vt:lpstr>
      <vt:lpstr>Come funziona gams</vt:lpstr>
      <vt:lpstr>Scelta del risolutore da utilizzare</vt:lpstr>
      <vt:lpstr>Definizione degli insiemi</vt:lpstr>
      <vt:lpstr>Definizione degli insiemi</vt:lpstr>
      <vt:lpstr>Definizione degli insiemi</vt:lpstr>
      <vt:lpstr>Definizione dei parametri</vt:lpstr>
      <vt:lpstr>Definizione dei parametri</vt:lpstr>
      <vt:lpstr>Definizione dei parametri</vt:lpstr>
      <vt:lpstr>Definizione delle variabili</vt:lpstr>
      <vt:lpstr>Definizione delle variabili</vt:lpstr>
      <vt:lpstr>Definizione delle equazioni</vt:lpstr>
      <vt:lpstr>operatori</vt:lpstr>
      <vt:lpstr>Risoluzione del modello</vt:lpstr>
      <vt:lpstr>Risoluzione del modello</vt:lpstr>
      <vt:lpstr>Presentazione standard di PowerPoint</vt:lpstr>
      <vt:lpstr>Presentazione standard di PowerPoint</vt:lpstr>
      <vt:lpstr>Output</vt:lpstr>
      <vt:lpstr>output</vt:lpstr>
      <vt:lpstr>Presentazione standard di PowerPoint</vt:lpstr>
      <vt:lpstr>Presentazione standard di PowerPoint</vt:lpstr>
      <vt:lpstr>LAB: setup</vt:lpstr>
      <vt:lpstr>Lab: modello</vt:lpstr>
      <vt:lpstr>Lab: dati</vt:lpstr>
    </vt:vector>
  </TitlesOfParts>
  <Company>Università degli Studi di Bergamo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GAMS</dc:title>
  <dc:creator>Paolo Pisciella</dc:creator>
  <cp:lastModifiedBy>Paolo Pisciella</cp:lastModifiedBy>
  <cp:revision>64</cp:revision>
  <dcterms:created xsi:type="dcterms:W3CDTF">2016-10-25T12:37:38Z</dcterms:created>
  <dcterms:modified xsi:type="dcterms:W3CDTF">2016-10-27T13:45:55Z</dcterms:modified>
</cp:coreProperties>
</file>