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  <p:sldId id="278" r:id="rId24"/>
    <p:sldId id="279" r:id="rId25"/>
    <p:sldId id="281" r:id="rId26"/>
    <p:sldId id="282" r:id="rId27"/>
    <p:sldId id="283" r:id="rId28"/>
    <p:sldId id="280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E3624-AB32-4460-90AB-FAED6DF5A10F}" v="32" dt="2025-09-12T09:25:47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32" autoAdjust="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Pisciella" userId="524c2885-9e1e-430a-9810-0ff74ea605bb" providerId="ADAL" clId="{0AAE3624-AB32-4460-90AB-FAED6DF5A10F}"/>
    <pc:docChg chg="undo custSel modSld">
      <pc:chgData name="Paolo Pisciella" userId="524c2885-9e1e-430a-9810-0ff74ea605bb" providerId="ADAL" clId="{0AAE3624-AB32-4460-90AB-FAED6DF5A10F}" dt="2025-09-12T09:25:47.248" v="568"/>
      <pc:docMkLst>
        <pc:docMk/>
      </pc:docMkLst>
      <pc:sldChg chg="modSp mod">
        <pc:chgData name="Paolo Pisciella" userId="524c2885-9e1e-430a-9810-0ff74ea605bb" providerId="ADAL" clId="{0AAE3624-AB32-4460-90AB-FAED6DF5A10F}" dt="2025-09-12T09:25:47.248" v="568"/>
        <pc:sldMkLst>
          <pc:docMk/>
          <pc:sldMk cId="2746645989" sldId="256"/>
        </pc:sldMkLst>
        <pc:spChg chg="mod">
          <ac:chgData name="Paolo Pisciella" userId="524c2885-9e1e-430a-9810-0ff74ea605bb" providerId="ADAL" clId="{0AAE3624-AB32-4460-90AB-FAED6DF5A10F}" dt="2025-09-12T09:25:47.248" v="568"/>
          <ac:spMkLst>
            <pc:docMk/>
            <pc:sldMk cId="2746645989" sldId="256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0:32.230" v="0" actId="20577"/>
          <ac:spMkLst>
            <pc:docMk/>
            <pc:sldMk cId="2746645989" sldId="256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2:44.764" v="33" actId="20577"/>
        <pc:sldMkLst>
          <pc:docMk/>
          <pc:sldMk cId="2234985043" sldId="257"/>
        </pc:sldMkLst>
        <pc:spChg chg="mod">
          <ac:chgData name="Paolo Pisciella" userId="524c2885-9e1e-430a-9810-0ff74ea605bb" providerId="ADAL" clId="{0AAE3624-AB32-4460-90AB-FAED6DF5A10F}" dt="2025-09-12T09:12:44.764" v="33" actId="20577"/>
          <ac:spMkLst>
            <pc:docMk/>
            <pc:sldMk cId="2234985043" sldId="257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1:41.019" v="13" actId="15"/>
          <ac:spMkLst>
            <pc:docMk/>
            <pc:sldMk cId="2234985043" sldId="257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2:39.065" v="26" actId="20577"/>
        <pc:sldMkLst>
          <pc:docMk/>
          <pc:sldMk cId="130645296" sldId="258"/>
        </pc:sldMkLst>
        <pc:spChg chg="mod">
          <ac:chgData name="Paolo Pisciella" userId="524c2885-9e1e-430a-9810-0ff74ea605bb" providerId="ADAL" clId="{0AAE3624-AB32-4460-90AB-FAED6DF5A10F}" dt="2025-09-12T09:12:39.065" v="26" actId="20577"/>
          <ac:spMkLst>
            <pc:docMk/>
            <pc:sldMk cId="130645296" sldId="258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2:34.950" v="23" actId="20577"/>
          <ac:spMkLst>
            <pc:docMk/>
            <pc:sldMk cId="130645296" sldId="258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5:33.991" v="166" actId="20577"/>
        <pc:sldMkLst>
          <pc:docMk/>
          <pc:sldMk cId="946457430" sldId="259"/>
        </pc:sldMkLst>
        <pc:spChg chg="mod">
          <ac:chgData name="Paolo Pisciella" userId="524c2885-9e1e-430a-9810-0ff74ea605bb" providerId="ADAL" clId="{0AAE3624-AB32-4460-90AB-FAED6DF5A10F}" dt="2025-09-12T09:15:33.991" v="166" actId="20577"/>
          <ac:spMkLst>
            <pc:docMk/>
            <pc:sldMk cId="946457430" sldId="259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5:24.792" v="148" actId="20577"/>
          <ac:spMkLst>
            <pc:docMk/>
            <pc:sldMk cId="946457430" sldId="259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20:49.201" v="432" actId="404"/>
        <pc:sldMkLst>
          <pc:docMk/>
          <pc:sldMk cId="2229495197" sldId="260"/>
        </pc:sldMkLst>
        <pc:spChg chg="mod">
          <ac:chgData name="Paolo Pisciella" userId="524c2885-9e1e-430a-9810-0ff74ea605bb" providerId="ADAL" clId="{0AAE3624-AB32-4460-90AB-FAED6DF5A10F}" dt="2025-09-12T09:20:49.201" v="432" actId="404"/>
          <ac:spMkLst>
            <pc:docMk/>
            <pc:sldMk cId="2229495197" sldId="260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9:49.071" v="325" actId="12"/>
          <ac:spMkLst>
            <pc:docMk/>
            <pc:sldMk cId="2229495197" sldId="260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22:24.594" v="471" actId="20577"/>
        <pc:sldMkLst>
          <pc:docMk/>
          <pc:sldMk cId="2350449187" sldId="261"/>
        </pc:sldMkLst>
        <pc:spChg chg="mod">
          <ac:chgData name="Paolo Pisciella" userId="524c2885-9e1e-430a-9810-0ff74ea605bb" providerId="ADAL" clId="{0AAE3624-AB32-4460-90AB-FAED6DF5A10F}" dt="2025-09-12T09:22:24.594" v="471" actId="20577"/>
          <ac:spMkLst>
            <pc:docMk/>
            <pc:sldMk cId="2350449187" sldId="261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22:16.095" v="448" actId="113"/>
          <ac:spMkLst>
            <pc:docMk/>
            <pc:sldMk cId="2350449187" sldId="261"/>
            <ac:spMk id="3" creationId="{00000000-0000-0000-0000-000000000000}"/>
          </ac:spMkLst>
        </pc:spChg>
      </pc:sldChg>
      <pc:sldChg chg="addSp modSp mod">
        <pc:chgData name="Paolo Pisciella" userId="524c2885-9e1e-430a-9810-0ff74ea605bb" providerId="ADAL" clId="{0AAE3624-AB32-4460-90AB-FAED6DF5A10F}" dt="2025-09-12T09:25:22.285" v="564" actId="113"/>
        <pc:sldMkLst>
          <pc:docMk/>
          <pc:sldMk cId="3230106494" sldId="262"/>
        </pc:sldMkLst>
        <pc:spChg chg="mod">
          <ac:chgData name="Paolo Pisciella" userId="524c2885-9e1e-430a-9810-0ff74ea605bb" providerId="ADAL" clId="{0AAE3624-AB32-4460-90AB-FAED6DF5A10F}" dt="2025-09-12T09:25:22.285" v="564" actId="113"/>
          <ac:spMkLst>
            <pc:docMk/>
            <pc:sldMk cId="3230106494" sldId="262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25:02.596" v="562" actId="20577"/>
          <ac:spMkLst>
            <pc:docMk/>
            <pc:sldMk cId="3230106494" sldId="262"/>
            <ac:spMk id="3" creationId="{00000000-0000-0000-0000-000000000000}"/>
          </ac:spMkLst>
        </pc:spChg>
        <pc:spChg chg="add">
          <ac:chgData name="Paolo Pisciella" userId="524c2885-9e1e-430a-9810-0ff74ea605bb" providerId="ADAL" clId="{0AAE3624-AB32-4460-90AB-FAED6DF5A10F}" dt="2025-09-12T09:23:16.682" v="475"/>
          <ac:spMkLst>
            <pc:docMk/>
            <pc:sldMk cId="3230106494" sldId="262"/>
            <ac:spMk id="4" creationId="{44D25A76-DB2A-FED4-2EBF-BD93D4C661D2}"/>
          </ac:spMkLst>
        </pc:spChg>
        <pc:spChg chg="add">
          <ac:chgData name="Paolo Pisciella" userId="524c2885-9e1e-430a-9810-0ff74ea605bb" providerId="ADAL" clId="{0AAE3624-AB32-4460-90AB-FAED6DF5A10F}" dt="2025-09-12T09:23:24.419" v="476"/>
          <ac:spMkLst>
            <pc:docMk/>
            <pc:sldMk cId="3230106494" sldId="262"/>
            <ac:spMk id="5" creationId="{2DA8C3AD-F4E1-4471-957D-23934F39CE28}"/>
          </ac:spMkLst>
        </pc:spChg>
        <pc:spChg chg="add">
          <ac:chgData name="Paolo Pisciella" userId="524c2885-9e1e-430a-9810-0ff74ea605bb" providerId="ADAL" clId="{0AAE3624-AB32-4460-90AB-FAED6DF5A10F}" dt="2025-09-12T09:23:27.045" v="478"/>
          <ac:spMkLst>
            <pc:docMk/>
            <pc:sldMk cId="3230106494" sldId="262"/>
            <ac:spMk id="6" creationId="{11AB0D72-7E01-65CC-EADB-DDD59F57156F}"/>
          </ac:spMkLst>
        </pc:spChg>
      </pc:sldChg>
      <pc:sldChg chg="modSp mod">
        <pc:chgData name="Paolo Pisciella" userId="524c2885-9e1e-430a-9810-0ff74ea605bb" providerId="ADAL" clId="{0AAE3624-AB32-4460-90AB-FAED6DF5A10F}" dt="2025-09-12T09:11:23.909" v="4" actId="27636"/>
        <pc:sldMkLst>
          <pc:docMk/>
          <pc:sldMk cId="1886629665" sldId="269"/>
        </pc:sldMkLst>
        <pc:spChg chg="mod">
          <ac:chgData name="Paolo Pisciella" userId="524c2885-9e1e-430a-9810-0ff74ea605bb" providerId="ADAL" clId="{0AAE3624-AB32-4460-90AB-FAED6DF5A10F}" dt="2025-09-12T09:11:23.909" v="4" actId="27636"/>
          <ac:spMkLst>
            <pc:docMk/>
            <pc:sldMk cId="1886629665" sldId="269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1:23.952" v="5" actId="27636"/>
        <pc:sldMkLst>
          <pc:docMk/>
          <pc:sldMk cId="3977996470" sldId="270"/>
        </pc:sldMkLst>
        <pc:spChg chg="mod">
          <ac:chgData name="Paolo Pisciella" userId="524c2885-9e1e-430a-9810-0ff74ea605bb" providerId="ADAL" clId="{0AAE3624-AB32-4460-90AB-FAED6DF5A10F}" dt="2025-09-12T09:11:23.952" v="5" actId="27636"/>
          <ac:spMkLst>
            <pc:docMk/>
            <pc:sldMk cId="3977996470" sldId="270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7:12.170" v="234" actId="20577"/>
        <pc:sldMkLst>
          <pc:docMk/>
          <pc:sldMk cId="3492990117" sldId="274"/>
        </pc:sldMkLst>
        <pc:spChg chg="mod">
          <ac:chgData name="Paolo Pisciella" userId="524c2885-9e1e-430a-9810-0ff74ea605bb" providerId="ADAL" clId="{0AAE3624-AB32-4460-90AB-FAED6DF5A10F}" dt="2025-09-12T09:17:12.170" v="234" actId="20577"/>
          <ac:spMkLst>
            <pc:docMk/>
            <pc:sldMk cId="3492990117" sldId="274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4:52.359" v="40" actId="20577"/>
          <ac:spMkLst>
            <pc:docMk/>
            <pc:sldMk cId="3492990117" sldId="274"/>
            <ac:spMk id="3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7:18.850" v="238"/>
        <pc:sldMkLst>
          <pc:docMk/>
          <pc:sldMk cId="1684654730" sldId="275"/>
        </pc:sldMkLst>
        <pc:spChg chg="mod">
          <ac:chgData name="Paolo Pisciella" userId="524c2885-9e1e-430a-9810-0ff74ea605bb" providerId="ADAL" clId="{0AAE3624-AB32-4460-90AB-FAED6DF5A10F}" dt="2025-09-12T09:17:18.850" v="238"/>
          <ac:spMkLst>
            <pc:docMk/>
            <pc:sldMk cId="1684654730" sldId="275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6:22.713" v="192"/>
          <ac:spMkLst>
            <pc:docMk/>
            <pc:sldMk cId="1684654730" sldId="275"/>
            <ac:spMk id="3" creationId="{00000000-0000-0000-0000-000000000000}"/>
          </ac:spMkLst>
        </pc:spChg>
        <pc:graphicFrameChg chg="mod modGraphic">
          <ac:chgData name="Paolo Pisciella" userId="524c2885-9e1e-430a-9810-0ff74ea605bb" providerId="ADAL" clId="{0AAE3624-AB32-4460-90AB-FAED6DF5A10F}" dt="2025-09-12T09:16:56.402" v="216" actId="20577"/>
          <ac:graphicFrameMkLst>
            <pc:docMk/>
            <pc:sldMk cId="1684654730" sldId="275"/>
            <ac:graphicFrameMk id="4" creationId="{00000000-0000-0000-0000-000000000000}"/>
          </ac:graphicFrameMkLst>
        </pc:graphicFrameChg>
      </pc:sldChg>
      <pc:sldChg chg="modSp mod">
        <pc:chgData name="Paolo Pisciella" userId="524c2885-9e1e-430a-9810-0ff74ea605bb" providerId="ADAL" clId="{0AAE3624-AB32-4460-90AB-FAED6DF5A10F}" dt="2025-09-12T09:18:55.654" v="317"/>
        <pc:sldMkLst>
          <pc:docMk/>
          <pc:sldMk cId="3770676036" sldId="276"/>
        </pc:sldMkLst>
        <pc:spChg chg="mod">
          <ac:chgData name="Paolo Pisciella" userId="524c2885-9e1e-430a-9810-0ff74ea605bb" providerId="ADAL" clId="{0AAE3624-AB32-4460-90AB-FAED6DF5A10F}" dt="2025-09-12T09:17:35.045" v="263" actId="20577"/>
          <ac:spMkLst>
            <pc:docMk/>
            <pc:sldMk cId="3770676036" sldId="276"/>
            <ac:spMk id="2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8:55.654" v="317"/>
          <ac:spMkLst>
            <pc:docMk/>
            <pc:sldMk cId="3770676036" sldId="276"/>
            <ac:spMk id="3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7:56.234" v="274" actId="20577"/>
          <ac:spMkLst>
            <pc:docMk/>
            <pc:sldMk cId="3770676036" sldId="276"/>
            <ac:spMk id="5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8:01.901" v="290" actId="20577"/>
          <ac:spMkLst>
            <pc:docMk/>
            <pc:sldMk cId="3770676036" sldId="276"/>
            <ac:spMk id="6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8:09.246" v="315" actId="6549"/>
          <ac:spMkLst>
            <pc:docMk/>
            <pc:sldMk cId="3770676036" sldId="276"/>
            <ac:spMk id="7" creationId="{00000000-0000-0000-0000-000000000000}"/>
          </ac:spMkLst>
        </pc:spChg>
        <pc:spChg chg="mod">
          <ac:chgData name="Paolo Pisciella" userId="524c2885-9e1e-430a-9810-0ff74ea605bb" providerId="ADAL" clId="{0AAE3624-AB32-4460-90AB-FAED6DF5A10F}" dt="2025-09-12T09:18:14.274" v="316"/>
          <ac:spMkLst>
            <pc:docMk/>
            <pc:sldMk cId="3770676036" sldId="276"/>
            <ac:spMk id="8" creationId="{00000000-0000-0000-0000-000000000000}"/>
          </ac:spMkLst>
        </pc:spChg>
      </pc:sldChg>
      <pc:sldChg chg="modSp mod">
        <pc:chgData name="Paolo Pisciella" userId="524c2885-9e1e-430a-9810-0ff74ea605bb" providerId="ADAL" clId="{0AAE3624-AB32-4460-90AB-FAED6DF5A10F}" dt="2025-09-12T09:11:23.964" v="6" actId="27636"/>
        <pc:sldMkLst>
          <pc:docMk/>
          <pc:sldMk cId="1575090332" sldId="279"/>
        </pc:sldMkLst>
        <pc:spChg chg="mod">
          <ac:chgData name="Paolo Pisciella" userId="524c2885-9e1e-430a-9810-0ff74ea605bb" providerId="ADAL" clId="{0AAE3624-AB32-4460-90AB-FAED6DF5A10F}" dt="2025-09-12T09:11:23.964" v="6" actId="27636"/>
          <ac:spMkLst>
            <pc:docMk/>
            <pc:sldMk cId="1575090332" sldId="27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33EF3-06DE-426C-9237-C06872DCCCE9}" type="datetimeFigureOut">
              <a:rPr lang="it-IT" smtClean="0"/>
              <a:t>12/09/2025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D17CE-C567-4274-9830-9EE3728E6E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701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Utile</a:t>
            </a:r>
            <a:r>
              <a:rPr lang="it-IT" baseline="0" dirty="0"/>
              <a:t> per risolvere problemi grandi che non si potrebbero risolvere con Excel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145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In sostanza il modello potrebbe essere scritto anche su un file di testo salvato come estensione .</a:t>
            </a:r>
            <a:r>
              <a:rPr lang="it-IT" dirty="0" err="1"/>
              <a:t>gms</a:t>
            </a:r>
            <a:r>
              <a:rPr lang="it-IT" dirty="0"/>
              <a:t> e poi fatto girare dal </a:t>
            </a:r>
            <a:r>
              <a:rPr lang="it-IT" dirty="0" err="1"/>
              <a:t>prompt</a:t>
            </a:r>
            <a:r>
              <a:rPr lang="it-IT" dirty="0"/>
              <a:t> di </a:t>
            </a:r>
            <a:r>
              <a:rPr lang="it-IT" dirty="0" err="1"/>
              <a:t>dos</a:t>
            </a:r>
            <a:r>
              <a:rPr lang="it-IT" dirty="0"/>
              <a:t> o, in generale, dal terminale dei comandi del proprio sistema operativo.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67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 numeri</a:t>
            </a:r>
            <a:r>
              <a:rPr lang="it-IT" baseline="0" dirty="0"/>
              <a:t> alla fine del nome fanno da ordinamento.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867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GAMS non è</a:t>
            </a:r>
            <a:r>
              <a:rPr lang="it-IT" baseline="0" dirty="0"/>
              <a:t> case sensitive, quindi anche se avevamo definito PRODOTTI, possiamo usare Prodotti ed il compilatore non si lamenterà.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84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Va</a:t>
            </a:r>
            <a:r>
              <a:rPr lang="it-IT" baseline="0" dirty="0"/>
              <a:t> bene sia con la virgola, sia in colonna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3942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Nella lista si dividono gli</a:t>
            </a:r>
            <a:r>
              <a:rPr lang="it-IT" baseline="0" dirty="0"/>
              <a:t> insiemi di variazione dei parametri da un punto.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38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Ovviamente la funzione obiettivo è solo un valore… non ha</a:t>
            </a:r>
            <a:r>
              <a:rPr lang="it-IT" baseline="0" dirty="0"/>
              <a:t> insiemi di definizione e dev’essere necessariamente libera!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451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file sorgente è quello</a:t>
            </a:r>
            <a:r>
              <a:rPr lang="it-IT" baseline="0" dirty="0"/>
              <a:t> scritto dall’utente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D17CE-C567-4274-9830-9EE3728E6EB4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05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ms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GAMS Tutorial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Part 1: </a:t>
            </a:r>
            <a:r>
              <a:rPr lang="it-IT" dirty="0" err="1"/>
              <a:t>basics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664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What’s</a:t>
            </a:r>
            <a:r>
              <a:rPr lang="it-IT" dirty="0"/>
              <a:t> </a:t>
            </a:r>
            <a:r>
              <a:rPr lang="it-IT" dirty="0" err="1"/>
              <a:t>gams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/>
              <a:t>General </a:t>
            </a:r>
            <a:r>
              <a:rPr lang="it-IT" dirty="0" err="1"/>
              <a:t>algebraic</a:t>
            </a:r>
            <a:r>
              <a:rPr lang="it-IT" dirty="0"/>
              <a:t> </a:t>
            </a:r>
            <a:r>
              <a:rPr lang="it-IT" dirty="0" err="1"/>
              <a:t>modeling</a:t>
            </a:r>
            <a:r>
              <a:rPr lang="it-IT" dirty="0"/>
              <a:t> system</a:t>
            </a:r>
          </a:p>
          <a:p>
            <a:r>
              <a:rPr lang="en-US" dirty="0"/>
              <a:t>It allows the formulation and analysis of linear, nonlinear, and mixed-integer (linear and nonlinear) optimization problems.</a:t>
            </a:r>
          </a:p>
          <a:p>
            <a:r>
              <a:rPr lang="en-US" dirty="0"/>
              <a:t>It is composed of two parts:</a:t>
            </a:r>
          </a:p>
          <a:p>
            <a:pPr lvl="1"/>
            <a:r>
              <a:rPr lang="en-US" dirty="0"/>
              <a:t>A language for the algebraic representation of optimization models</a:t>
            </a:r>
          </a:p>
          <a:p>
            <a:pPr lvl="1"/>
            <a:r>
              <a:rPr lang="en-US" dirty="0"/>
              <a:t>A set of solvers used for solving the problem</a:t>
            </a:r>
          </a:p>
        </p:txBody>
      </p:sp>
    </p:spTree>
    <p:extLst>
      <p:ext uri="{BB962C8B-B14F-4D97-AF65-F5344CB8AC3E}">
        <p14:creationId xmlns:p14="http://schemas.microsoft.com/office/powerpoint/2010/main" val="223498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Use </a:t>
            </a:r>
            <a:r>
              <a:rPr lang="it-IT" dirty="0" err="1"/>
              <a:t>gams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You can download a demo version compatible with your operating system from the website </a:t>
            </a:r>
            <a:r>
              <a:rPr lang="en-US" b="1" dirty="0">
                <a:hlinkClick r:id="rId3"/>
              </a:rPr>
              <a:t>www.gams.com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demo version is limited to very small problems (few constraints and few variables).</a:t>
            </a:r>
          </a:p>
          <a:p>
            <a:r>
              <a:rPr lang="en-US" dirty="0"/>
              <a:t>With Windows, an integrated development environment is provided.</a:t>
            </a:r>
          </a:p>
          <a:p>
            <a:r>
              <a:rPr lang="en-US" dirty="0"/>
              <a:t>If you purchase GAMS, you essentially obtain the “unlocking” of the solvers you are interested in using.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64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solvers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Linear and mixed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- </a:t>
            </a:r>
            <a:r>
              <a:rPr lang="it-IT" dirty="0" err="1"/>
              <a:t>cplex</a:t>
            </a:r>
            <a:r>
              <a:rPr lang="it-IT" dirty="0"/>
              <a:t>, </a:t>
            </a:r>
            <a:r>
              <a:rPr lang="it-IT" dirty="0" err="1"/>
              <a:t>mosek</a:t>
            </a:r>
            <a:r>
              <a:rPr lang="it-IT" dirty="0"/>
              <a:t>, </a:t>
            </a:r>
            <a:r>
              <a:rPr lang="it-IT" dirty="0" err="1"/>
              <a:t>gurobi</a:t>
            </a:r>
            <a:endParaRPr lang="it-IT" dirty="0"/>
          </a:p>
          <a:p>
            <a:r>
              <a:rPr lang="it-IT" dirty="0" err="1"/>
              <a:t>Nonlinear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– </a:t>
            </a:r>
            <a:r>
              <a:rPr lang="it-IT" dirty="0" err="1"/>
              <a:t>minos</a:t>
            </a:r>
            <a:r>
              <a:rPr lang="it-IT" dirty="0"/>
              <a:t>, </a:t>
            </a:r>
            <a:r>
              <a:rPr lang="it-IT" dirty="0" err="1"/>
              <a:t>ipopt</a:t>
            </a:r>
            <a:endParaRPr lang="it-IT" dirty="0"/>
          </a:p>
          <a:p>
            <a:r>
              <a:rPr lang="it-IT" dirty="0"/>
              <a:t>Mixed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nonlinear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– </a:t>
            </a:r>
            <a:r>
              <a:rPr lang="it-IT" dirty="0" err="1"/>
              <a:t>baron</a:t>
            </a:r>
            <a:r>
              <a:rPr lang="it-IT" dirty="0"/>
              <a:t>, </a:t>
            </a:r>
            <a:r>
              <a:rPr lang="it-IT" dirty="0" err="1"/>
              <a:t>emp</a:t>
            </a:r>
            <a:r>
              <a:rPr lang="it-IT" dirty="0"/>
              <a:t>, </a:t>
            </a:r>
            <a:r>
              <a:rPr lang="it-IT" dirty="0" err="1"/>
              <a:t>knitro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645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Solving a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849120" y="1794437"/>
            <a:ext cx="10363826" cy="4477054"/>
          </a:xfrm>
        </p:spPr>
        <p:txBody>
          <a:bodyPr>
            <a:normAutofit/>
          </a:bodyPr>
          <a:lstStyle/>
          <a:p>
            <a:r>
              <a:rPr lang="en-US" dirty="0"/>
              <a:t>A refinery purchases two different types of crude oil:</a:t>
            </a:r>
          </a:p>
          <a:p>
            <a:pPr lvl="1"/>
            <a:r>
              <a:rPr lang="en-US" dirty="0"/>
              <a:t>Light crude</a:t>
            </a:r>
          </a:p>
          <a:p>
            <a:pPr lvl="1"/>
            <a:r>
              <a:rPr lang="en-US" dirty="0"/>
              <a:t>Heavy crude</a:t>
            </a:r>
          </a:p>
          <a:p>
            <a:r>
              <a:rPr lang="en-US" dirty="0"/>
              <a:t>The purchase costs are 42 and 22, respectively.</a:t>
            </a:r>
          </a:p>
          <a:p>
            <a:r>
              <a:rPr lang="en-US" dirty="0"/>
              <a:t>From the crude oil, the industry obtains two products:</a:t>
            </a:r>
          </a:p>
          <a:p>
            <a:pPr lvl="1"/>
            <a:r>
              <a:rPr lang="en-US" dirty="0"/>
              <a:t>Gasoline</a:t>
            </a:r>
          </a:p>
          <a:p>
            <a:pPr lvl="1"/>
            <a:r>
              <a:rPr lang="en-US" dirty="0"/>
              <a:t>Diesel</a:t>
            </a:r>
          </a:p>
          <a:p>
            <a:r>
              <a:rPr lang="en-US" dirty="0"/>
              <a:t>The demand to be satisfied for the two products is 13,200 and </a:t>
            </a:r>
            <a:r>
              <a:rPr lang="it-IT" dirty="0"/>
              <a:t>8000 </a:t>
            </a:r>
          </a:p>
        </p:txBody>
      </p:sp>
    </p:spTree>
    <p:extLst>
      <p:ext uri="{BB962C8B-B14F-4D97-AF65-F5344CB8AC3E}">
        <p14:creationId xmlns:p14="http://schemas.microsoft.com/office/powerpoint/2010/main" val="349299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Solving a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849120" y="1794437"/>
            <a:ext cx="10363826" cy="4477054"/>
          </a:xfrm>
        </p:spPr>
        <p:txBody>
          <a:bodyPr>
            <a:normAutofit/>
          </a:bodyPr>
          <a:lstStyle/>
          <a:p>
            <a:r>
              <a:rPr lang="en-US" dirty="0"/>
              <a:t>The marginal production capacity of the two types of crude oil is 55.</a:t>
            </a:r>
          </a:p>
          <a:p>
            <a:r>
              <a:rPr lang="en-US" dirty="0"/>
              <a:t>The following table shows the quantities of diesel and gasoline that can be obtained from one unit of light crude oil and from one unit of heavy crude oil.</a:t>
            </a:r>
            <a:endParaRPr lang="it-IT" dirty="0"/>
          </a:p>
        </p:txBody>
      </p:sp>
      <p:graphicFrame>
        <p:nvGraphicFramePr>
          <p:cNvPr id="4" name="Tabel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647513"/>
              </p:ext>
            </p:extLst>
          </p:nvPr>
        </p:nvGraphicFramePr>
        <p:xfrm>
          <a:off x="2032000" y="3892340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373652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300468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08929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0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Crude oil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2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Crude oil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847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5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mathematical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Determine the quantities of crude oil to be used in each product in order to meet demand and minimize costs.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2332180" y="3315853"/>
                <a:ext cx="4927601" cy="24753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it-IT" sz="32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it-IT" sz="3200" b="0" i="0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3200" b="0" i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42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it-IT" sz="3200" b="0" i="1" smtClean="0">
                                          <a:latin typeface="Cambria Math" panose="02040503050406030204" pitchFamily="18" charset="0"/>
                                        </a:rPr>
                                        <m:t>+22</m:t>
                                      </m:r>
                                      <m:sSub>
                                        <m:sSubPr>
                                          <m:ctrlP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.   55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15000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13200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8000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it-IT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it-IT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it-IT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180" y="3315853"/>
                <a:ext cx="4927601" cy="24753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/>
          <p:cNvSpPr txBox="1"/>
          <p:nvPr/>
        </p:nvSpPr>
        <p:spPr>
          <a:xfrm>
            <a:off x="7412806" y="3417476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Total costs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7423570" y="3823602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Maximum </a:t>
            </a:r>
            <a:r>
              <a:rPr lang="it-IT" dirty="0" err="1"/>
              <a:t>capacity</a:t>
            </a:r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7423570" y="4264614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Demand product 1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7423570" y="4707534"/>
            <a:ext cx="346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Demand product 2</a:t>
            </a:r>
          </a:p>
        </p:txBody>
      </p:sp>
    </p:spTree>
    <p:extLst>
      <p:ext uri="{BB962C8B-B14F-4D97-AF65-F5344CB8AC3E}">
        <p14:creationId xmlns:p14="http://schemas.microsoft.com/office/powerpoint/2010/main" val="377067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How to formulate an </a:t>
            </a:r>
            <a:r>
              <a:rPr lang="it-IT" sz="3200" dirty="0" err="1"/>
              <a:t>optimization</a:t>
            </a:r>
            <a:r>
              <a:rPr lang="it-IT" sz="3200" dirty="0"/>
              <a:t> model in </a:t>
            </a:r>
            <a:r>
              <a:rPr lang="it-IT" sz="3200" dirty="0" err="1"/>
              <a:t>gams</a:t>
            </a:r>
            <a:endParaRPr lang="it-IT" sz="3200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models described in GAMS consist of six main parts: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Choice of the solver to use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Definition of the 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Definition of the input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Definition of the model variables</a:t>
            </a:r>
          </a:p>
          <a:p>
            <a:pPr lvl="1"/>
            <a:r>
              <a:rPr lang="en-US" dirty="0"/>
              <a:t>Possible assignment of bounds for the 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Definition of the model’s equations and inequalities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Solving the model</a:t>
            </a:r>
          </a:p>
          <a:p>
            <a:pPr lvl="1"/>
            <a:r>
              <a:rPr lang="en-US" dirty="0"/>
              <a:t>Any requests for customized output display</a:t>
            </a:r>
          </a:p>
        </p:txBody>
      </p:sp>
    </p:spTree>
    <p:extLst>
      <p:ext uri="{BB962C8B-B14F-4D97-AF65-F5344CB8AC3E}">
        <p14:creationId xmlns:p14="http://schemas.microsoft.com/office/powerpoint/2010/main" val="222949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Selecting</a:t>
            </a:r>
            <a:r>
              <a:rPr lang="it-IT" dirty="0"/>
              <a:t> the solver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available solvers can be checked under File → Options → Solvers.</a:t>
            </a:r>
          </a:p>
          <a:p>
            <a:pPr algn="just"/>
            <a:r>
              <a:rPr lang="en-US" dirty="0"/>
              <a:t>The types of problems to be solved can be Linear Programming 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US" dirty="0"/>
              <a:t>), Nonlinear Programming 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dirty="0"/>
              <a:t>), or Mixed-Integer Linear Programming 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mip</a:t>
            </a:r>
            <a:r>
              <a:rPr lang="en-US" dirty="0"/>
              <a:t>).</a:t>
            </a:r>
          </a:p>
          <a:p>
            <a:r>
              <a:rPr lang="en-US" dirty="0"/>
              <a:t>To choose the solver, the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en-US" dirty="0"/>
              <a:t> command is used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Option 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cplex</a:t>
            </a:r>
            <a:endParaRPr lang="it-IT" sz="20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Option 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20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minos</a:t>
            </a:r>
            <a:endParaRPr lang="it-IT" sz="20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044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Definition of </a:t>
            </a:r>
            <a:r>
              <a:rPr lang="nb-NO" dirty="0" err="1"/>
              <a:t>sets</a:t>
            </a:r>
            <a:endParaRPr lang="nb-NO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set is defined using the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dirty="0"/>
              <a:t> command followed by the name of the set, an optional description, and the list of elements enclosed by the symbol /.</a:t>
            </a:r>
            <a:endParaRPr lang="it-IT" dirty="0"/>
          </a:p>
          <a:p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Set J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of crude oil (light and heavy) /crude1,crude2/;</a:t>
            </a:r>
          </a:p>
          <a:p>
            <a:r>
              <a:rPr lang="en-US" dirty="0"/>
              <a:t>The GAMS language does not distinguish between uppercase and lowercase letters.</a:t>
            </a:r>
            <a:br>
              <a:rPr lang="en-US" dirty="0"/>
            </a:br>
            <a:r>
              <a:rPr lang="en-US" dirty="0"/>
              <a:t>Each instruction ends with a semicolon ( ; 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010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degli insiemi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È possibile scrivere una lista ordinata di elementi utilizzando l’asterisco</a:t>
            </a:r>
          </a:p>
          <a:p>
            <a:r>
              <a:rPr lang="it-IT" dirty="0"/>
              <a:t>Invece di scrivere</a:t>
            </a:r>
          </a:p>
          <a:p>
            <a:pPr marL="457200" lvl="1" indent="0">
              <a:buNone/>
            </a:pP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Set PRODOTTI della raffineria /prod1,prod2,prod3,prod4,prod5/;</a:t>
            </a:r>
          </a:p>
          <a:p>
            <a:r>
              <a:rPr lang="it-IT" dirty="0"/>
              <a:t>Si può scrivere</a:t>
            </a:r>
          </a:p>
          <a:p>
            <a:pPr marL="457200" lvl="1" indent="0">
              <a:buNone/>
            </a:pP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Set PRODOTTI della raffineria /prod1*prod5/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3004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degli insiemi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È anche possibile assegnare nomi diversi allo stesso insieme, attraverso il comando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Alias.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Alias (Prodotti, K)</a:t>
            </a:r>
          </a:p>
        </p:txBody>
      </p:sp>
    </p:spTree>
    <p:extLst>
      <p:ext uri="{BB962C8B-B14F-4D97-AF65-F5344CB8AC3E}">
        <p14:creationId xmlns:p14="http://schemas.microsoft.com/office/powerpoint/2010/main" val="150493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/>
              <a:t>Un parametro viene definito usando il comando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dirty="0"/>
              <a:t> oppure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it-IT" dirty="0"/>
              <a:t>Nei parametri del modello vengono definiti i dati di input e gli eventuali calcoli intermedi</a:t>
            </a:r>
          </a:p>
          <a:p>
            <a:r>
              <a:rPr lang="it-IT" dirty="0"/>
              <a:t>Per definire il parametro si usa il nome del parametro e tra parentesi si segnano gli insiemi su cui è definito</a:t>
            </a:r>
          </a:p>
        </p:txBody>
      </p:sp>
    </p:spTree>
    <p:extLst>
      <p:ext uri="{BB962C8B-B14F-4D97-AF65-F5344CB8AC3E}">
        <p14:creationId xmlns:p14="http://schemas.microsoft.com/office/powerpoint/2010/main" val="356408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h(K) vettore delle domande /prod1=13200, prod2=8000/;</a:t>
            </a:r>
          </a:p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b(J)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 Marginale /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greggio1=55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greggio2=55/;</a:t>
            </a:r>
          </a:p>
          <a:p>
            <a:pPr marL="0" indent="0">
              <a:buNone/>
            </a:pP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188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P(J,K)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di greggio j per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di prodotto k /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greggio1.prod1 = 200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greggio1.prod2 = 60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greggio2.prod1 = 100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greggio2.prod2 = 50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/;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575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delle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13775" y="2080765"/>
            <a:ext cx="10363826" cy="3932108"/>
          </a:xfrm>
        </p:spPr>
        <p:txBody>
          <a:bodyPr>
            <a:normAutofit lnSpcReduction="10000"/>
          </a:bodyPr>
          <a:lstStyle/>
          <a:p>
            <a:r>
              <a:rPr lang="it-IT" dirty="0"/>
              <a:t>Ogni variabile è dichiarata usando uno dei seguenti comandi: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2000" dirty="0"/>
              <a:t>VARIABILI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/>
              <a:t>CONTINUE</a:t>
            </a:r>
          </a:p>
          <a:p>
            <a:pPr lvl="1"/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Positive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/>
              <a:t>VARIABILI CONTINUE NON NEGATIVE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/>
              <a:t>VARIABILI DI TIPO {0,1}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/>
              <a:t>VARIABILI DISCRETE {0,1,2,3,4,5…}</a:t>
            </a:r>
          </a:p>
          <a:p>
            <a:r>
              <a:rPr lang="it-IT" sz="2200" dirty="0"/>
              <a:t>Dopo il comando si scrive il nome della variabile</a:t>
            </a:r>
          </a:p>
          <a:p>
            <a:pPr lvl="1"/>
            <a:r>
              <a:rPr lang="it-IT" sz="2000" dirty="0"/>
              <a:t>Tra parentesi si scrive la lista degli insiemi su cui è definita</a:t>
            </a:r>
          </a:p>
          <a:p>
            <a:pPr lvl="1"/>
            <a:r>
              <a:rPr lang="it-IT" sz="2000" dirty="0"/>
              <a:t>Poi si inserisce una eventuale descrizione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Positive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x(J)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ottima di greggio;</a:t>
            </a:r>
          </a:p>
        </p:txBody>
      </p:sp>
    </p:spTree>
    <p:extLst>
      <p:ext uri="{BB962C8B-B14F-4D97-AF65-F5344CB8AC3E}">
        <p14:creationId xmlns:p14="http://schemas.microsoft.com/office/powerpoint/2010/main" val="723036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delle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Una volta definite le variabili si può assegnar loro dei limiti di variazione 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x.up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(J)=50, </a:t>
            </a:r>
            <a:r>
              <a:rPr lang="it-IT" sz="2000" dirty="0"/>
              <a:t>vuol dire che la variabile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x(J) </a:t>
            </a:r>
            <a:r>
              <a:rPr lang="it-IT" sz="2000" dirty="0"/>
              <a:t>può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/>
              <a:t>assumere al massimo valore 50</a:t>
            </a:r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x.lo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(J)=10.</a:t>
            </a:r>
          </a:p>
          <a:p>
            <a:r>
              <a:rPr lang="it-IT" dirty="0"/>
              <a:t>Anche alla funzione obiettivo si associa una variabile (libera)</a:t>
            </a:r>
          </a:p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z;</a:t>
            </a:r>
          </a:p>
          <a:p>
            <a:r>
              <a:rPr lang="it-IT" dirty="0"/>
              <a:t>TALE VARIABILE VIENE ASSOCIATA ALLA FUNZIONE OBIETTIVO IN UNA EQUAZIONE </a:t>
            </a:r>
          </a:p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	z =e= 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f.o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   e viene in seguito MASSIMIZZATA O MINIMIZZATA nella risoluzione</a:t>
            </a:r>
          </a:p>
        </p:txBody>
      </p:sp>
    </p:spTree>
    <p:extLst>
      <p:ext uri="{BB962C8B-B14F-4D97-AF65-F5344CB8AC3E}">
        <p14:creationId xmlns:p14="http://schemas.microsoft.com/office/powerpoint/2010/main" val="188662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delle equazioni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Si definiscono in 2 fasi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Dichiarazione delle equazioni con gli insiemi in cui sono definite tra parentesi 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Equation capacita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capacita’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produttiva della raffineria;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it-IT" dirty="0"/>
              <a:t>Ulteriore scrittura del nome dell’equazione seguita da due punti e relativa implementazione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capacita..</a:t>
            </a:r>
          </a:p>
          <a:p>
            <a:pPr marL="457200" lvl="1" indent="0">
              <a:buNone/>
            </a:pPr>
            <a:r>
              <a:rPr lang="it-IT" dirty="0"/>
              <a:t>	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J,b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(J)*x(J)) =l= 15000;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it-IT" dirty="0"/>
              <a:t>Un esempio di somma su due indici</a:t>
            </a:r>
          </a:p>
          <a:p>
            <a:pPr marL="457200" lvl="1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  Sum((I,J),b(I,J)*x(I,J)) =l= 15000;</a:t>
            </a:r>
          </a:p>
          <a:p>
            <a:pPr marL="457200" lvl="1" indent="0">
              <a:buNone/>
            </a:pP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7996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Operatore di minore o uguale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=l=</a:t>
            </a:r>
          </a:p>
          <a:p>
            <a:r>
              <a:rPr lang="it-IT" dirty="0">
                <a:sym typeface="Wingdings" panose="05000000000000000000" pitchFamily="2" charset="2"/>
              </a:rPr>
              <a:t>Operatore di maggiore o uguale 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=g=</a:t>
            </a:r>
          </a:p>
          <a:p>
            <a:r>
              <a:rPr lang="it-IT" dirty="0">
                <a:sym typeface="Wingdings" panose="05000000000000000000" pitchFamily="2" charset="2"/>
              </a:rPr>
              <a:t>Operatore di uguale 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=e=</a:t>
            </a:r>
          </a:p>
          <a:p>
            <a:r>
              <a:rPr lang="it-IT" dirty="0">
                <a:sym typeface="Wingdings" panose="05000000000000000000" pitchFamily="2" charset="2"/>
              </a:rPr>
              <a:t>Somma nell’insieme J 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sum(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J,parametri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(J)*variabili(J));</a:t>
            </a:r>
            <a:endParaRPr lang="it-IT" sz="18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4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Risoluzione del modello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Dopo aver implementato tutte le equazioni si procede a risolvere il modello. Anche questo si fa in due fasi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Definizione del modello </a:t>
            </a:r>
          </a:p>
          <a:p>
            <a:pPr lvl="2"/>
            <a:r>
              <a:rPr lang="it-IT" dirty="0"/>
              <a:t>Cioè scrittura della lista di equazioni che definiscono il modello. A questa lista si da un nome.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Inserimento dell’istruzione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Solve</a:t>
            </a:r>
          </a:p>
        </p:txBody>
      </p:sp>
    </p:spTree>
    <p:extLst>
      <p:ext uri="{BB962C8B-B14F-4D97-AF65-F5344CB8AC3E}">
        <p14:creationId xmlns:p14="http://schemas.microsoft.com/office/powerpoint/2010/main" val="1657591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Risoluzione del modello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Model Raffineria pianificazione di una raffineria /obiettivo, capacita, domanda/;</a:t>
            </a:r>
          </a:p>
          <a:p>
            <a:pPr marL="0" indent="0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Solve Raffineria 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Minimizing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z Using </a:t>
            </a:r>
            <a:r>
              <a:rPr lang="it-IT" sz="18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99367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72" y="0"/>
            <a:ext cx="8197637" cy="6890255"/>
          </a:xfrm>
        </p:spPr>
      </p:pic>
    </p:spTree>
    <p:extLst>
      <p:ext uri="{BB962C8B-B14F-4D97-AF65-F5344CB8AC3E}">
        <p14:creationId xmlns:p14="http://schemas.microsoft.com/office/powerpoint/2010/main" val="2680575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69" y="295563"/>
            <a:ext cx="11858276" cy="6294582"/>
          </a:xfrm>
        </p:spPr>
      </p:pic>
    </p:spTree>
    <p:extLst>
      <p:ext uri="{BB962C8B-B14F-4D97-AF65-F5344CB8AC3E}">
        <p14:creationId xmlns:p14="http://schemas.microsoft.com/office/powerpoint/2010/main" val="4136419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Output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L’output viene riportato sull’ide e su un file .</a:t>
            </a:r>
            <a:r>
              <a:rPr lang="it-IT" dirty="0" err="1"/>
              <a:t>lst</a:t>
            </a:r>
            <a:endParaRPr lang="it-IT" dirty="0"/>
          </a:p>
          <a:p>
            <a:r>
              <a:rPr lang="it-IT" dirty="0"/>
              <a:t>In questo file viene riportato tutto il codice contenuto nel file sorgente con le righe numerate</a:t>
            </a:r>
          </a:p>
          <a:p>
            <a:r>
              <a:rPr lang="it-IT" dirty="0"/>
              <a:t>in assenza di errori l’output elenca tutte le equazioni e le variabili descritte nel modello, dei loro coefficienti e del valore inizialmente assunto</a:t>
            </a:r>
          </a:p>
          <a:p>
            <a:r>
              <a:rPr lang="it-IT" dirty="0"/>
              <a:t>Infine viene riportato l’output della vera e propria esecuzione, ossia l’elaborazione del modello attraverso l’avvio di uno specifico risolutore.</a:t>
            </a:r>
          </a:p>
          <a:p>
            <a:endParaRPr lang="it-IT" sz="18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5090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output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Nella parte finale dell’output si elenca</a:t>
            </a:r>
          </a:p>
          <a:p>
            <a:pPr lvl="1"/>
            <a:r>
              <a:rPr lang="it-IT" dirty="0"/>
              <a:t>Lo stato dell’ottimizzazione (se ci sono stati problemi)</a:t>
            </a:r>
          </a:p>
          <a:p>
            <a:pPr lvl="1"/>
            <a:r>
              <a:rPr lang="it-IT" dirty="0"/>
              <a:t>Lo stato del modello (</a:t>
            </a:r>
            <a:r>
              <a:rPr lang="it-IT" dirty="0" err="1"/>
              <a:t>optimal</a:t>
            </a:r>
            <a:r>
              <a:rPr lang="it-IT" dirty="0"/>
              <a:t>, </a:t>
            </a:r>
            <a:r>
              <a:rPr lang="it-IT" dirty="0" err="1"/>
              <a:t>infeasible</a:t>
            </a:r>
            <a:r>
              <a:rPr lang="it-IT" dirty="0"/>
              <a:t>, </a:t>
            </a:r>
            <a:r>
              <a:rPr lang="it-IT" dirty="0" err="1"/>
              <a:t>unbounded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Il valore della funzione obiettivo</a:t>
            </a:r>
          </a:p>
          <a:p>
            <a:r>
              <a:rPr lang="it-IT" dirty="0"/>
              <a:t>A seguito vengono elencati i valori delle equazioni all’ottimo e i relativi </a:t>
            </a:r>
            <a:r>
              <a:rPr lang="it-IT" dirty="0" err="1"/>
              <a:t>bound</a:t>
            </a:r>
            <a:r>
              <a:rPr lang="it-IT" dirty="0"/>
              <a:t>.</a:t>
            </a:r>
          </a:p>
          <a:p>
            <a:r>
              <a:rPr lang="it-IT" dirty="0"/>
              <a:t>Infine vengono elencati i valori delle variabili all’ottimo</a:t>
            </a:r>
          </a:p>
        </p:txBody>
      </p:sp>
    </p:spTree>
    <p:extLst>
      <p:ext uri="{BB962C8B-B14F-4D97-AF65-F5344CB8AC3E}">
        <p14:creationId xmlns:p14="http://schemas.microsoft.com/office/powerpoint/2010/main" val="2862824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40" y="0"/>
            <a:ext cx="11561495" cy="6858000"/>
          </a:xfrm>
        </p:spPr>
      </p:pic>
    </p:spTree>
    <p:extLst>
      <p:ext uri="{BB962C8B-B14F-4D97-AF65-F5344CB8AC3E}">
        <p14:creationId xmlns:p14="http://schemas.microsoft.com/office/powerpoint/2010/main" val="6780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83" y="0"/>
            <a:ext cx="6842545" cy="6862554"/>
          </a:xfrm>
        </p:spPr>
      </p:pic>
    </p:spTree>
    <p:extLst>
      <p:ext uri="{BB962C8B-B14F-4D97-AF65-F5344CB8AC3E}">
        <p14:creationId xmlns:p14="http://schemas.microsoft.com/office/powerpoint/2010/main" val="1997938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LAB: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endParaRPr lang="it-IT" dirty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𝑖𝑚𝑝𝑖𝑎𝑛𝑡𝑖</m:t>
                    </m:r>
                  </m:oMath>
                </a14:m>
                <a:endParaRPr lang="it-IT" b="0" dirty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𝑚𝑒𝑟𝑐𝑎𝑡𝑖</m:t>
                    </m:r>
                  </m:oMath>
                </a14:m>
                <a:endParaRPr lang="it-IT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𝑜𝑓𝑓𝑒𝑟𝑡𝑎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𝑑𝑜𝑚𝑎𝑛𝑑𝑎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𝑐𝑜𝑠𝑡𝑜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𝑢𝑛𝑖𝑡𝑎𝑟𝑖𝑜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𝑡𝑟𝑎𝑠𝑝𝑜𝑟𝑡𝑎𝑟𝑒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768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Lab: modello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</m:func>
                      <m:r>
                        <a:rPr lang="it-IT" sz="3200" i="1">
                          <a:latin typeface="Cambria Math" panose="02040503050406030204" pitchFamily="18" charset="0"/>
                        </a:rPr>
                        <m:t>     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3200" dirty="0"/>
              </a:p>
              <a:p>
                <a:r>
                  <a:rPr lang="it-IT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Soggetto ai vincoli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𝑥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𝑗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≥0</m:t>
                      </m:r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  <a:blipFill>
                <a:blip r:embed="rId2"/>
                <a:stretch>
                  <a:fillRect l="-41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067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Lab: dati</a:t>
            </a:r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19221719"/>
              </p:ext>
            </p:extLst>
          </p:nvPr>
        </p:nvGraphicFramePr>
        <p:xfrm>
          <a:off x="914400" y="2366963"/>
          <a:ext cx="10363200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33563478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386168025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24514374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90633419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46495306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Costi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Mercati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Impianti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Topeka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Fornitura </a:t>
                      </a:r>
                      <a:r>
                        <a:rPr lang="it-IT" b="1" dirty="0" err="1"/>
                        <a:t>max</a:t>
                      </a:r>
                      <a:endParaRPr lang="it-IT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07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48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San</a:t>
                      </a:r>
                      <a:r>
                        <a:rPr lang="it-IT" i="1" baseline="0" dirty="0"/>
                        <a:t> Diego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1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Domanda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6059"/>
      </p:ext>
    </p:extLst>
  </p:cSld>
  <p:clrMapOvr>
    <a:masterClrMapping/>
  </p:clrMapOvr>
</p:sld>
</file>

<file path=ppt/theme/theme1.xml><?xml version="1.0" encoding="utf-8"?>
<a:theme xmlns:a="http://schemas.openxmlformats.org/drawingml/2006/main" name="Gocci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TM04033925[[fn=Goccia]]</Template>
  <TotalTime>0</TotalTime>
  <Words>1419</Words>
  <Application>Microsoft Office PowerPoint</Application>
  <PresentationFormat>Widescreen</PresentationFormat>
  <Paragraphs>193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 Math</vt:lpstr>
      <vt:lpstr>Courier New</vt:lpstr>
      <vt:lpstr>Tw Cen MT</vt:lpstr>
      <vt:lpstr>Wingdings</vt:lpstr>
      <vt:lpstr>Goccia</vt:lpstr>
      <vt:lpstr>GAMS Tutorial</vt:lpstr>
      <vt:lpstr>What’s gams</vt:lpstr>
      <vt:lpstr>Use gams</vt:lpstr>
      <vt:lpstr>solvers</vt:lpstr>
      <vt:lpstr>Solving a problem</vt:lpstr>
      <vt:lpstr>Solving a problem</vt:lpstr>
      <vt:lpstr>The mathematical problem</vt:lpstr>
      <vt:lpstr>How to formulate an optimization model in gams</vt:lpstr>
      <vt:lpstr>Selecting the solver</vt:lpstr>
      <vt:lpstr>Definition of sets</vt:lpstr>
      <vt:lpstr>Definizione degli insiemi</vt:lpstr>
      <vt:lpstr>Definizione degli insiemi</vt:lpstr>
      <vt:lpstr>Definizione dei parametri</vt:lpstr>
      <vt:lpstr>Definizione dei parametri</vt:lpstr>
      <vt:lpstr>Definizione dei parametri</vt:lpstr>
      <vt:lpstr>Definizione delle variabili</vt:lpstr>
      <vt:lpstr>Definizione delle variabili</vt:lpstr>
      <vt:lpstr>Definizione delle equazioni</vt:lpstr>
      <vt:lpstr>operatori</vt:lpstr>
      <vt:lpstr>Risoluzione del modello</vt:lpstr>
      <vt:lpstr>Risoluzione del modello</vt:lpstr>
      <vt:lpstr>PowerPoint Presentation</vt:lpstr>
      <vt:lpstr>PowerPoint Presentation</vt:lpstr>
      <vt:lpstr>Output</vt:lpstr>
      <vt:lpstr>output</vt:lpstr>
      <vt:lpstr>PowerPoint Presentation</vt:lpstr>
      <vt:lpstr>PowerPoint Presentation</vt:lpstr>
      <vt:lpstr>LAB: setup</vt:lpstr>
      <vt:lpstr>Lab: modello</vt:lpstr>
      <vt:lpstr>Lab: dati</vt:lpstr>
    </vt:vector>
  </TitlesOfParts>
  <Company>Università degli Studi di Bergamo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GAMS</dc:title>
  <dc:creator>Paolo Pisciella</dc:creator>
  <cp:lastModifiedBy>Paolo Pisciella</cp:lastModifiedBy>
  <cp:revision>64</cp:revision>
  <dcterms:created xsi:type="dcterms:W3CDTF">2016-10-25T12:37:38Z</dcterms:created>
  <dcterms:modified xsi:type="dcterms:W3CDTF">2025-09-12T09:25:49Z</dcterms:modified>
</cp:coreProperties>
</file>