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57" r:id="rId8"/>
    <p:sldId id="258" r:id="rId9"/>
    <p:sldId id="259" r:id="rId10"/>
    <p:sldId id="26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0" r:id="rId21"/>
    <p:sldId id="271" r:id="rId22"/>
    <p:sldId id="272" r:id="rId23"/>
    <p:sldId id="273" r:id="rId24"/>
    <p:sldId id="274" r:id="rId25"/>
    <p:sldId id="275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3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/>
              <a:t>Tutorial </a:t>
            </a:r>
            <a:r>
              <a:rPr lang="it-IT" dirty="0" err="1" smtClean="0"/>
              <a:t>gams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smtClean="0"/>
              <a:t>Parte 2: il foglio di output e gestione degli errori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393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Modello di riferimento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endParaRPr lang="it-IT" dirty="0" smtClean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𝑜𝑓𝑓𝑒𝑟𝑡𝑎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𝑚𝑎𝑠𝑠𝑖𝑚𝑎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𝑐𝑎𝑝𝑎𝑐𝑖𝑡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𝑑𝑒𝑙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it-IT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𝑑𝑜𝑚𝑎𝑛𝑑𝑎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𝑠𝑜𝑑𝑑𝑖𝑠𝑓𝑎𝑟𝑒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𝑐𝑜𝑠𝑡𝑜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𝑢𝑛𝑖𝑡𝑎𝑟𝑖𝑜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𝑡𝑟𝑎𝑠𝑝𝑜𝑟𝑡𝑎𝑟𝑒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𝑝𝑟𝑜𝑑𝑜𝑡𝑡𝑜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𝑑𝑎𝑙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𝑖𝑚𝑝𝑖𝑎𝑛𝑡𝑜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𝑎𝑙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𝑚𝑒𝑟𝑐𝑎𝑡𝑜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it-IT" dirty="0" smtClean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50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Lab: modello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/>
              <p:cNvSpPr txBox="1"/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</m:func>
                      <m:r>
                        <a:rPr lang="it-IT" sz="3200" i="1">
                          <a:latin typeface="Cambria Math" panose="02040503050406030204" pitchFamily="18" charset="0"/>
                        </a:rPr>
                        <m:t>     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3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it-IT" sz="3200" dirty="0"/>
              </a:p>
              <a:p>
                <a:r>
                  <a:rPr lang="it-IT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Soggetto ai vincoli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3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𝑥</m:t>
                          </m:r>
                        </m:e>
                        <m:sub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𝑖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,</m:t>
                          </m:r>
                          <m:r>
                            <a:rPr lang="it-IT" sz="3200" i="1"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𝑗</m:t>
                          </m:r>
                        </m:sub>
                      </m:sSub>
                      <m:r>
                        <a:rPr lang="it-IT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urier New" panose="02070309020205020404" pitchFamily="49" charset="0"/>
                        </a:rPr>
                        <m:t>≥0</m:t>
                      </m:r>
                    </m:oMath>
                  </m:oMathPara>
                </a14:m>
                <a:endParaRPr lang="it-IT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CasellaDiTes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36" y="1891741"/>
                <a:ext cx="5661891" cy="4720908"/>
              </a:xfrm>
              <a:prstGeom prst="rect">
                <a:avLst/>
              </a:prstGeom>
              <a:blipFill>
                <a:blip r:embed="rId2"/>
                <a:stretch>
                  <a:fillRect l="-41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90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Lab: dati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sz="quarter" idx="13"/>
            <p:extLst/>
          </p:nvPr>
        </p:nvGraphicFramePr>
        <p:xfrm>
          <a:off x="914400" y="2366963"/>
          <a:ext cx="10363200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33563478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386168025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24514374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906334194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3464953065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it-IT" dirty="0" smtClean="0"/>
                        <a:t>Costi</a:t>
                      </a:r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0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Mercati</a:t>
                      </a:r>
                      <a:endParaRPr lang="it-IT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Impianti</a:t>
                      </a:r>
                      <a:endParaRPr lang="it-IT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New York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Chicago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Topeka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b="1" dirty="0" smtClean="0"/>
                        <a:t>Fornitura </a:t>
                      </a:r>
                      <a:r>
                        <a:rPr lang="it-IT" b="1" dirty="0" err="1" smtClean="0"/>
                        <a:t>max</a:t>
                      </a:r>
                      <a:endParaRPr lang="it-IT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07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Seattle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350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48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San</a:t>
                      </a:r>
                      <a:r>
                        <a:rPr lang="it-IT" i="1" baseline="0" dirty="0" smtClean="0"/>
                        <a:t> Diego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1.4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600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1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i="1" dirty="0" smtClean="0"/>
                        <a:t>Domanda</a:t>
                      </a:r>
                      <a:endParaRPr lang="it-IT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325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300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275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61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1502536" y="988191"/>
            <a:ext cx="6096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SETS</a:t>
            </a:r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I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canning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plants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/ SEATTLE, SAN-DIEGO /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markets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 / NEW-YORK, CHICAGO, TOPEKA / ;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PARAMETERS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A(I)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capacity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of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plant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i in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cases</a:t>
            </a:r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/    SEATTLE     350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     SAN-DIEGO   600  /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B(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)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demand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at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market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in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cases</a:t>
            </a:r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/    NEW-YORK    325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     CHICAGO     300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     TOPEKA      275  / ;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TABLE C(I,J)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costs</a:t>
            </a:r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             NEW-YORK       CHICAGO      TOPEKA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SEATTLE          2.5           1.7          1.8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SAN-DIEGO        2.5           1.8          1.4  ;</a:t>
            </a:r>
          </a:p>
          <a:p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</a:t>
            </a:r>
          </a:p>
        </p:txBody>
      </p:sp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900896" y="0"/>
            <a:ext cx="10364451" cy="1596177"/>
          </a:xfrm>
        </p:spPr>
        <p:txBody>
          <a:bodyPr/>
          <a:lstStyle/>
          <a:p>
            <a:r>
              <a:rPr lang="it-IT" dirty="0" smtClean="0"/>
              <a:t>dati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045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1596177"/>
          </a:xfrm>
        </p:spPr>
        <p:txBody>
          <a:bodyPr/>
          <a:lstStyle/>
          <a:p>
            <a:r>
              <a:rPr lang="it-IT" dirty="0" smtClean="0"/>
              <a:t>modello</a:t>
            </a:r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1373746" y="1596177"/>
            <a:ext cx="1007557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VARIABLES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total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transportation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costs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in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thousands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of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dollars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;</a:t>
            </a:r>
          </a:p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POSITIVE 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VARIABLE X(I,J)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shipment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quantities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in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cases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EQUATIONS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COST     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define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objective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function</a:t>
            </a:r>
            <a:endParaRPr lang="it-IT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SUPPLY(I)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observe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supply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limit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at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plant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i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     DEMAND(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)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satisfy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demand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at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market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;</a:t>
            </a:r>
          </a:p>
          <a:p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COST ..       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=E=  SUM((I,J), C(I,J)*X(I,J)) ;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SUPPLY(I) ..   SUM(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, X(I,J))  =L=  A(I) ;</a:t>
            </a:r>
          </a:p>
          <a:p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 DEMAND(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) ..   SUM(I, X(I,J))  =G=  B(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J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) ;</a:t>
            </a:r>
          </a:p>
          <a:p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MODEL TRANSPORT /ALL/ ;</a:t>
            </a:r>
          </a:p>
          <a:p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SOLVE TRANSPORT USING LP MINIMIZING </a:t>
            </a:r>
            <a:r>
              <a:rPr lang="it-IT" dirty="0" err="1">
                <a:latin typeface="Courier New" charset="0"/>
                <a:ea typeface="Courier New" charset="0"/>
                <a:cs typeface="Courier New" charset="0"/>
              </a:rPr>
              <a:t>Z</a:t>
            </a:r>
            <a:r>
              <a:rPr lang="it-IT" dirty="0">
                <a:latin typeface="Courier New" charset="0"/>
                <a:ea typeface="Courier New" charset="0"/>
                <a:cs typeface="Courier New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87715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foglio di output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Contiene aiuti per esaminare i risultati del modello ed eventualmente fare il controllo degli errori</a:t>
            </a:r>
          </a:p>
          <a:p>
            <a:r>
              <a:rPr lang="it-IT" dirty="0" smtClean="0"/>
              <a:t>L’output viene scritto su un file che può essere letto con un editor di testo o con l’editor di </a:t>
            </a:r>
            <a:r>
              <a:rPr lang="it-IT" dirty="0" err="1" smtClean="0"/>
              <a:t>gams</a:t>
            </a:r>
            <a:r>
              <a:rPr lang="it-IT" dirty="0" smtClean="0"/>
              <a:t>.</a:t>
            </a:r>
          </a:p>
          <a:p>
            <a:r>
              <a:rPr lang="it-IT" dirty="0" smtClean="0"/>
              <a:t>L’output di </a:t>
            </a:r>
            <a:r>
              <a:rPr lang="it-IT" dirty="0" err="1" smtClean="0"/>
              <a:t>gams</a:t>
            </a:r>
            <a:r>
              <a:rPr lang="it-IT" dirty="0" smtClean="0"/>
              <a:t> contiene due parti di informazioni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L’output del compilatore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/>
              <a:t>L’output del solutore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790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 del compilatore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it-IT" dirty="0" smtClean="0"/>
              <a:t>l’</a:t>
            </a:r>
            <a:r>
              <a:rPr lang="it-IT" dirty="0" err="1" smtClean="0"/>
              <a:t>echo</a:t>
            </a:r>
            <a:r>
              <a:rPr lang="it-IT" dirty="0" smtClean="0"/>
              <a:t> </a:t>
            </a:r>
            <a:r>
              <a:rPr lang="it-IT" dirty="0" err="1"/>
              <a:t>print</a:t>
            </a:r>
            <a:r>
              <a:rPr lang="it-IT" dirty="0"/>
              <a:t>. È la riscrittura dell’input con il numero di riga aggiunto prima di ogni riga.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smtClean="0"/>
              <a:t>Spiegazione dei possibili errori.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smtClean="0"/>
              <a:t>(opzionale) mappe. Servono a fare una lista degli elementi presenti nel modello (variabili, equazioni, parametri) insieme alle righe dove questi elementi sono stati richiamati</a:t>
            </a:r>
          </a:p>
          <a:p>
            <a:pPr lvl="1"/>
            <a:r>
              <a:rPr lang="it-IT" dirty="0" smtClean="0"/>
              <a:t>Si attivano con il comando </a:t>
            </a:r>
            <a:r>
              <a:rPr lang="it-IT" sz="20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sz="2000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onsymxref</a:t>
            </a:r>
            <a:endParaRPr lang="it-IT" sz="20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535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 del solutore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L’output del solutore è caratterizzato dalle seguenti parti: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Equation listing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err="1" smtClean="0"/>
              <a:t>Column</a:t>
            </a:r>
            <a:r>
              <a:rPr lang="it-IT" dirty="0" smtClean="0"/>
              <a:t> listing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Model </a:t>
            </a:r>
            <a:r>
              <a:rPr lang="it-IT" dirty="0" err="1" smtClean="0"/>
              <a:t>statistics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Solve </a:t>
            </a:r>
            <a:r>
              <a:rPr lang="it-IT" dirty="0" err="1" smtClean="0"/>
              <a:t>summary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986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 del compilatore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9314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Errori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Nell’</a:t>
            </a:r>
            <a:r>
              <a:rPr lang="it-IT" dirty="0" err="1" smtClean="0"/>
              <a:t>echo</a:t>
            </a:r>
            <a:r>
              <a:rPr lang="it-IT" dirty="0" smtClean="0"/>
              <a:t> </a:t>
            </a:r>
            <a:r>
              <a:rPr lang="it-IT" dirty="0" err="1" smtClean="0"/>
              <a:t>print</a:t>
            </a:r>
            <a:r>
              <a:rPr lang="it-IT" dirty="0" smtClean="0"/>
              <a:t> vengono riportati quattro asterischi nella riga successiva a quella in cui si trova l’errore</a:t>
            </a:r>
          </a:p>
          <a:p>
            <a:r>
              <a:rPr lang="it-IT" dirty="0" smtClean="0"/>
              <a:t>Esempio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 </a:t>
            </a:r>
            <a:r>
              <a:rPr lang="it-IT" dirty="0" smtClean="0"/>
              <a:t>  Produce l’errore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3" y="3630858"/>
            <a:ext cx="8173044" cy="619170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33" y="4793535"/>
            <a:ext cx="8978976" cy="99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3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errori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I possibili errori sono elencati in una lista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949441"/>
            <a:ext cx="8574174" cy="299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8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Errori tipici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Manca il punto e virgola alla fine dell’istruzione</a:t>
            </a:r>
          </a:p>
          <a:p>
            <a:r>
              <a:rPr lang="it-IT" dirty="0" smtClean="0"/>
              <a:t>Uso di simboli riservati per assegnare il nome a qualcosa</a:t>
            </a:r>
          </a:p>
          <a:p>
            <a:r>
              <a:rPr lang="it-IT" dirty="0" smtClean="0"/>
              <a:t>Errore di scrittura</a:t>
            </a:r>
          </a:p>
          <a:p>
            <a:pPr lvl="1"/>
            <a:r>
              <a:rPr lang="it-IT" dirty="0" smtClean="0"/>
              <a:t>Per esempio Inizializzo la variabile in un modo e poi la richiamo in un altro modo per assegnarle un valore.</a:t>
            </a:r>
          </a:p>
          <a:p>
            <a:r>
              <a:rPr lang="it-IT" dirty="0" smtClean="0"/>
              <a:t>Errore nel modello</a:t>
            </a:r>
          </a:p>
          <a:p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150682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Esempio: Uso di simboli riservati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L’istruzione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 smtClean="0"/>
              <a:t>Comporta il messaggio d’errore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Dato che </a:t>
            </a:r>
            <a:r>
              <a:rPr lang="it-IT" cap="none" dirty="0" smtClean="0">
                <a:latin typeface="Courier New" charset="0"/>
                <a:ea typeface="Courier New" charset="0"/>
                <a:cs typeface="Courier New" charset="0"/>
              </a:rPr>
              <a:t>sum</a:t>
            </a:r>
            <a:r>
              <a:rPr lang="it-IT" cap="none" dirty="0" smtClean="0"/>
              <a:t> </a:t>
            </a:r>
            <a:r>
              <a:rPr lang="it-IT" dirty="0" smtClean="0"/>
              <a:t>è un comando riservato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10" y="2908568"/>
            <a:ext cx="6666112" cy="272514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09" y="4036454"/>
            <a:ext cx="7370685" cy="509788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709" y="4569502"/>
            <a:ext cx="3225623" cy="5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9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Esempio: errori di scrittura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Altri tipi di errore nascono da casi come il seguente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14" y="2906421"/>
            <a:ext cx="6788989" cy="2884778"/>
          </a:xfrm>
          <a:prstGeom prst="rect">
            <a:avLst/>
          </a:prstGeom>
        </p:spPr>
      </p:pic>
      <p:cxnSp>
        <p:nvCxnSpPr>
          <p:cNvPr id="6" name="Connettore 2 5"/>
          <p:cNvCxnSpPr/>
          <p:nvPr/>
        </p:nvCxnSpPr>
        <p:spPr>
          <a:xfrm>
            <a:off x="656822" y="4610637"/>
            <a:ext cx="1571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92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Esempio: errore nel modello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it-IT" dirty="0" smtClean="0"/>
                  <a:t>Si vuole modellare qualcosa che non ha senso</a:t>
                </a:r>
              </a:p>
              <a:p>
                <a:pPr lvl="1"/>
                <a:r>
                  <a:rPr lang="it-IT" dirty="0" smtClean="0"/>
                  <a:t>Per esempio il vincolo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it-IT" b="0" i="1" smtClean="0">
                              <a:latin typeface="Cambria Math" charset="0"/>
                            </a:rPr>
                            <m:t>𝑗</m:t>
                          </m:r>
                          <m:r>
                            <a:rPr lang="it-IT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∈</m:t>
                          </m:r>
                          <m:r>
                            <a:rPr lang="it-IT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it-IT" b="0" i="1" smtClean="0"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it-IT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b="0" i="1" smtClean="0">
                          <a:latin typeface="Cambria Math" charset="0"/>
                        </a:rPr>
                        <m:t>=100          </m:t>
                      </m:r>
                      <m:r>
                        <m:rPr>
                          <m:brk m:alnAt="7"/>
                        </m:rPr>
                        <a:rPr lang="it-IT" i="1">
                          <a:latin typeface="Cambria Math" charset="0"/>
                        </a:rPr>
                        <m:t>𝑗</m:t>
                      </m:r>
                      <m:r>
                        <a:rPr lang="it-IT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∈</m:t>
                      </m:r>
                      <m:r>
                        <a:rPr lang="it-IT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𝐽</m:t>
                      </m:r>
                    </m:oMath>
                  </m:oMathPara>
                </a14:m>
                <a:endParaRPr lang="it-IT" dirty="0" smtClean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0"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4231543"/>
            <a:ext cx="9811291" cy="183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5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Le mappe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Le </a:t>
            </a:r>
            <a:r>
              <a:rPr lang="it-IT" dirty="0" err="1" smtClean="0"/>
              <a:t>reference</a:t>
            </a:r>
            <a:r>
              <a:rPr lang="it-IT" dirty="0" smtClean="0"/>
              <a:t> </a:t>
            </a:r>
            <a:r>
              <a:rPr lang="it-IT" dirty="0" err="1" smtClean="0"/>
              <a:t>maps</a:t>
            </a:r>
            <a:r>
              <a:rPr lang="it-IT" dirty="0" smtClean="0"/>
              <a:t> contengono indicazioni relative agli “oggetti” definiti dall’utente nel file di input </a:t>
            </a:r>
          </a:p>
          <a:p>
            <a:r>
              <a:rPr lang="it-IT" dirty="0" smtClean="0"/>
              <a:t>Per ogni set, parametro e variabile viene indicato in quale riga l’elemento viene richiamato.</a:t>
            </a:r>
          </a:p>
          <a:p>
            <a:r>
              <a:rPr lang="it-IT" dirty="0" smtClean="0"/>
              <a:t>Due tipi di mappe</a:t>
            </a:r>
          </a:p>
          <a:p>
            <a:pPr lvl="1"/>
            <a:r>
              <a:rPr lang="it-IT" dirty="0" smtClean="0"/>
              <a:t>Mappa dei riferimenti incrociati</a:t>
            </a:r>
          </a:p>
          <a:p>
            <a:pPr lvl="1"/>
            <a:r>
              <a:rPr lang="it-IT" dirty="0" smtClean="0"/>
              <a:t>Mappa degli oggetti del modello ordinati per tipologia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5754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Mappa dei Riferimenti incrociati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Esempio</a:t>
            </a:r>
            <a:r>
              <a:rPr lang="is-IS" dirty="0" smtClean="0"/>
              <a:t>…</a:t>
            </a:r>
            <a:endParaRPr lang="it-IT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86" y="2910803"/>
            <a:ext cx="10159939" cy="288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22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42563" y="-214820"/>
            <a:ext cx="10364451" cy="1596177"/>
          </a:xfrm>
        </p:spPr>
        <p:txBody>
          <a:bodyPr/>
          <a:lstStyle/>
          <a:p>
            <a:r>
              <a:rPr lang="it-IT" dirty="0" smtClean="0"/>
              <a:t>Mappa degli oggetti nel modello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403" y="774469"/>
            <a:ext cx="6742788" cy="3306141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151" y="3943651"/>
            <a:ext cx="6808040" cy="27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97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Output del solutore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508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Equation listing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È il listato analitico di tutte le equazioni del modello (una per una)</a:t>
            </a:r>
          </a:p>
          <a:p>
            <a:r>
              <a:rPr lang="it-IT" dirty="0" smtClean="0"/>
              <a:t>Serve a capire se il </a:t>
            </a:r>
            <a:r>
              <a:rPr lang="it-IT" dirty="0" err="1" smtClean="0"/>
              <a:t>gams</a:t>
            </a:r>
            <a:r>
              <a:rPr lang="it-IT" dirty="0" smtClean="0"/>
              <a:t> ha generato davvero il modello che volevamo</a:t>
            </a:r>
          </a:p>
          <a:p>
            <a:r>
              <a:rPr lang="it-IT" dirty="0" smtClean="0"/>
              <a:t>Permette di analizzare il modello con un grande livello di dettaglio</a:t>
            </a:r>
          </a:p>
        </p:txBody>
      </p:sp>
    </p:spTree>
    <p:extLst>
      <p:ext uri="{BB962C8B-B14F-4D97-AF65-F5344CB8AC3E}">
        <p14:creationId xmlns:p14="http://schemas.microsoft.com/office/powerpoint/2010/main" val="2039508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Equation listing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072345"/>
          </a:xfrm>
        </p:spPr>
        <p:txBody>
          <a:bodyPr/>
          <a:lstStyle/>
          <a:p>
            <a:r>
              <a:rPr lang="it-IT" dirty="0" smtClean="0"/>
              <a:t>Il generico vincolo</a:t>
            </a:r>
          </a:p>
          <a:p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Viene riportato come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863760"/>
            <a:ext cx="5294860" cy="355957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3865449"/>
            <a:ext cx="9993979" cy="12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59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Equation listing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4072345"/>
          </a:xfrm>
        </p:spPr>
        <p:txBody>
          <a:bodyPr/>
          <a:lstStyle/>
          <a:p>
            <a:r>
              <a:rPr lang="it-IT" dirty="0" smtClean="0"/>
              <a:t>Il generico vincolo</a:t>
            </a:r>
          </a:p>
          <a:p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Viene riportato come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 smtClean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smtClean="0"/>
              <a:t>Attenzione: </a:t>
            </a:r>
            <a:r>
              <a:rPr lang="it-IT" dirty="0" err="1" smtClean="0"/>
              <a:t>gams</a:t>
            </a:r>
            <a:r>
              <a:rPr lang="it-IT" dirty="0" smtClean="0"/>
              <a:t> riporta un numero massimo di righe. Questo numero può essere cambiato con l’istruzione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2863760"/>
            <a:ext cx="5294860" cy="355957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3865449"/>
            <a:ext cx="9993979" cy="1280017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74" y="6102812"/>
            <a:ext cx="3426406" cy="5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7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Column</a:t>
            </a:r>
            <a:r>
              <a:rPr lang="it-IT" dirty="0" smtClean="0"/>
              <a:t> listing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Come per </a:t>
            </a:r>
            <a:r>
              <a:rPr lang="it-IT" dirty="0" err="1" smtClean="0"/>
              <a:t>l’equation</a:t>
            </a:r>
            <a:r>
              <a:rPr lang="it-IT" dirty="0" smtClean="0"/>
              <a:t> listing, il </a:t>
            </a:r>
            <a:r>
              <a:rPr lang="it-IT" dirty="0" err="1" smtClean="0"/>
              <a:t>column</a:t>
            </a:r>
            <a:r>
              <a:rPr lang="it-IT" dirty="0" smtClean="0"/>
              <a:t> listing è il listato analitico di tutte le variabili presenti nel modello</a:t>
            </a:r>
          </a:p>
          <a:p>
            <a:r>
              <a:rPr lang="it-IT" dirty="0" smtClean="0"/>
              <a:t>Vengono listati anche i limiti inferiori e superiori per ogni variabile considerata.</a:t>
            </a:r>
          </a:p>
          <a:p>
            <a:r>
              <a:rPr lang="it-IT" dirty="0" smtClean="0"/>
              <a:t>Vengono riportati i coefficienti di ogni variabile nelle varie equazioni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024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 </a:t>
            </a:r>
            <a:r>
              <a:rPr lang="it-IT" dirty="0" err="1" smtClean="0"/>
              <a:t>statistics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Informazioni sulla dimensione del modello.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72" y="2971263"/>
            <a:ext cx="8668108" cy="188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35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Solve </a:t>
            </a:r>
            <a:r>
              <a:rPr lang="it-IT" dirty="0" err="1" smtClean="0"/>
              <a:t>summary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Contiene un sunto dei risultati dell’ottimizzazione</a:t>
            </a:r>
          </a:p>
          <a:p>
            <a:r>
              <a:rPr lang="it-IT" dirty="0" smtClean="0"/>
              <a:t>Le due voci più importanti sono 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Solver status</a:t>
            </a:r>
          </a:p>
          <a:p>
            <a:pPr lvl="2"/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1 </a:t>
            </a:r>
            <a:r>
              <a:rPr lang="it-IT" dirty="0" err="1" smtClean="0">
                <a:latin typeface="Courier New" charset="0"/>
                <a:ea typeface="Courier New" charset="0"/>
                <a:cs typeface="Courier New" charset="0"/>
              </a:rPr>
              <a:t>normal</a:t>
            </a:r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it-IT" dirty="0" err="1" smtClean="0">
                <a:latin typeface="Courier New" charset="0"/>
                <a:ea typeface="Courier New" charset="0"/>
                <a:cs typeface="Courier New" charset="0"/>
              </a:rPr>
              <a:t>completion</a:t>
            </a:r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Model status</a:t>
            </a:r>
          </a:p>
          <a:p>
            <a:pPr lvl="2"/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1 </a:t>
            </a:r>
            <a:r>
              <a:rPr lang="it-IT" dirty="0" err="1" smtClean="0">
                <a:latin typeface="Courier New" charset="0"/>
                <a:ea typeface="Courier New" charset="0"/>
                <a:cs typeface="Courier New" charset="0"/>
              </a:rPr>
              <a:t>optimal</a:t>
            </a:r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pPr lvl="2"/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3 </a:t>
            </a:r>
            <a:r>
              <a:rPr lang="it-IT" dirty="0" err="1" smtClean="0">
                <a:latin typeface="Courier New" charset="0"/>
                <a:ea typeface="Courier New" charset="0"/>
                <a:cs typeface="Courier New" charset="0"/>
              </a:rPr>
              <a:t>unbounded</a:t>
            </a:r>
            <a:endParaRPr lang="it-IT" dirty="0" smtClean="0">
              <a:latin typeface="Courier New" charset="0"/>
              <a:ea typeface="Courier New" charset="0"/>
              <a:cs typeface="Courier New" charset="0"/>
            </a:endParaRPr>
          </a:p>
          <a:p>
            <a:pPr lvl="2"/>
            <a:r>
              <a:rPr lang="it-IT" dirty="0" smtClean="0">
                <a:latin typeface="Courier New" charset="0"/>
                <a:ea typeface="Courier New" charset="0"/>
                <a:cs typeface="Courier New" charset="0"/>
              </a:rPr>
              <a:t>4 </a:t>
            </a:r>
            <a:r>
              <a:rPr lang="it-IT" dirty="0" err="1" smtClean="0">
                <a:latin typeface="Courier New" charset="0"/>
                <a:ea typeface="Courier New" charset="0"/>
                <a:cs typeface="Courier New" charset="0"/>
              </a:rPr>
              <a:t>infeasible</a:t>
            </a:r>
            <a:endParaRPr lang="it-IT" dirty="0" smtClean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09365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Solve </a:t>
            </a:r>
            <a:r>
              <a:rPr lang="it-IT" dirty="0" err="1" smtClean="0"/>
              <a:t>summary</a:t>
            </a:r>
            <a:r>
              <a:rPr lang="it-IT" dirty="0" smtClean="0"/>
              <a:t>: esempio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924" y="1978870"/>
            <a:ext cx="7521262" cy="410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04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Solution reports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Contiene i risultati dell’ottimizzazione</a:t>
            </a:r>
          </a:p>
          <a:p>
            <a:r>
              <a:rPr lang="it-IT" dirty="0" smtClean="0"/>
              <a:t>Equazioni e vincoli sono raggruppati per tipologia ed etichettati a seconda del nome assegnato dall’utente</a:t>
            </a:r>
          </a:p>
          <a:p>
            <a:r>
              <a:rPr lang="it-IT" dirty="0" smtClean="0"/>
              <a:t>Per ogni vincolo ed ogni variabile vengono riportati i limiti inferiore e superiore e i valori delle variabili duali</a:t>
            </a:r>
          </a:p>
          <a:p>
            <a:endParaRPr lang="it-IT" dirty="0" smtClean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31746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3774" y="23089"/>
            <a:ext cx="10364451" cy="1596177"/>
          </a:xfrm>
        </p:spPr>
        <p:txBody>
          <a:bodyPr/>
          <a:lstStyle/>
          <a:p>
            <a:r>
              <a:rPr lang="it-IT" dirty="0" smtClean="0"/>
              <a:t>Solution reports: esempio</a:t>
            </a:r>
            <a:endParaRPr lang="it-IT" dirty="0"/>
          </a:p>
        </p:txBody>
      </p:sp>
      <p:sp>
        <p:nvSpPr>
          <p:cNvPr id="7" name="Segnaposto contenuto 6"/>
          <p:cNvSpPr>
            <a:spLocks noGrp="1"/>
          </p:cNvSpPr>
          <p:nvPr>
            <p:ph sz="quarter" idx="13"/>
          </p:nvPr>
        </p:nvSpPr>
        <p:spPr>
          <a:xfrm>
            <a:off x="902395" y="1323903"/>
            <a:ext cx="10363826" cy="3424107"/>
          </a:xfrm>
        </p:spPr>
        <p:txBody>
          <a:bodyPr/>
          <a:lstStyle/>
          <a:p>
            <a:r>
              <a:rPr lang="it-IT" dirty="0" smtClean="0"/>
              <a:t>equazioni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386" y="2034058"/>
            <a:ext cx="7119148" cy="539720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480" y="2467616"/>
            <a:ext cx="7867491" cy="371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55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3774" y="23089"/>
            <a:ext cx="10364451" cy="1596177"/>
          </a:xfrm>
        </p:spPr>
        <p:txBody>
          <a:bodyPr/>
          <a:lstStyle/>
          <a:p>
            <a:r>
              <a:rPr lang="it-IT" dirty="0" smtClean="0"/>
              <a:t>Solution reports: esempio</a:t>
            </a:r>
            <a:endParaRPr lang="it-IT" dirty="0"/>
          </a:p>
        </p:txBody>
      </p:sp>
      <p:sp>
        <p:nvSpPr>
          <p:cNvPr id="7" name="Segnaposto contenuto 6"/>
          <p:cNvSpPr>
            <a:spLocks noGrp="1"/>
          </p:cNvSpPr>
          <p:nvPr>
            <p:ph sz="quarter" idx="13"/>
          </p:nvPr>
        </p:nvSpPr>
        <p:spPr>
          <a:xfrm>
            <a:off x="902395" y="1323903"/>
            <a:ext cx="10363826" cy="3424107"/>
          </a:xfrm>
        </p:spPr>
        <p:txBody>
          <a:bodyPr/>
          <a:lstStyle/>
          <a:p>
            <a:r>
              <a:rPr lang="it-IT" smtClean="0"/>
              <a:t>variabili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15" y="2107279"/>
            <a:ext cx="8512197" cy="340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62066"/>
      </p:ext>
    </p:extLst>
  </p:cSld>
  <p:clrMapOvr>
    <a:masterClrMapping/>
  </p:clrMapOvr>
</p:sld>
</file>

<file path=ppt/theme/theme1.xml><?xml version="1.0" encoding="utf-8"?>
<a:theme xmlns:a="http://schemas.openxmlformats.org/drawingml/2006/main" name="Gocci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TM04033925[[fn=Goccia]]</Template>
  <TotalTime>255</TotalTime>
  <Words>778</Words>
  <Application>Microsoft Office PowerPoint</Application>
  <PresentationFormat>Widescreen</PresentationFormat>
  <Paragraphs>167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Cambria Math</vt:lpstr>
      <vt:lpstr>Courier New</vt:lpstr>
      <vt:lpstr>Tw Cen MT</vt:lpstr>
      <vt:lpstr>Goccia</vt:lpstr>
      <vt:lpstr>Tutorial gams</vt:lpstr>
      <vt:lpstr>Modello di riferimento</vt:lpstr>
      <vt:lpstr>Lab: modello</vt:lpstr>
      <vt:lpstr>Lab: dati</vt:lpstr>
      <vt:lpstr>dati</vt:lpstr>
      <vt:lpstr>modello</vt:lpstr>
      <vt:lpstr>Il foglio di output</vt:lpstr>
      <vt:lpstr>Output del compilatore</vt:lpstr>
      <vt:lpstr>Output del solutore</vt:lpstr>
      <vt:lpstr>Output del compilatore</vt:lpstr>
      <vt:lpstr>Errori</vt:lpstr>
      <vt:lpstr>errori</vt:lpstr>
      <vt:lpstr>Errori tipici</vt:lpstr>
      <vt:lpstr>Esempio: Uso di simboli riservati</vt:lpstr>
      <vt:lpstr>Esempio: errori di scrittura</vt:lpstr>
      <vt:lpstr>Esempio: errore nel modello</vt:lpstr>
      <vt:lpstr>Le mappe</vt:lpstr>
      <vt:lpstr>Mappa dei Riferimenti incrociati</vt:lpstr>
      <vt:lpstr>Mappa degli oggetti nel modello</vt:lpstr>
      <vt:lpstr>Output del solutore</vt:lpstr>
      <vt:lpstr>Equation listing</vt:lpstr>
      <vt:lpstr>Equation listing</vt:lpstr>
      <vt:lpstr>Equation listing</vt:lpstr>
      <vt:lpstr>Column listing</vt:lpstr>
      <vt:lpstr>Model statistics</vt:lpstr>
      <vt:lpstr>Solve summary</vt:lpstr>
      <vt:lpstr>Solve summary: esempio</vt:lpstr>
      <vt:lpstr>Solution reports</vt:lpstr>
      <vt:lpstr>Solution reports: esempio</vt:lpstr>
      <vt:lpstr>Solution reports: esempio</vt:lpstr>
    </vt:vector>
  </TitlesOfParts>
  <Company>Università degli Studi di Bergamo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gams</dc:title>
  <dc:creator>Paolo Pisciella</dc:creator>
  <cp:lastModifiedBy>Paolo Pisciella</cp:lastModifiedBy>
  <cp:revision>39</cp:revision>
  <dcterms:created xsi:type="dcterms:W3CDTF">2016-10-27T13:50:03Z</dcterms:created>
  <dcterms:modified xsi:type="dcterms:W3CDTF">2016-11-10T15:46:29Z</dcterms:modified>
</cp:coreProperties>
</file>