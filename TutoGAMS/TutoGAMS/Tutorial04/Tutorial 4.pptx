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38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EFF9A-6C3D-497D-BE77-82EE12B40196}" type="datetimeFigureOut">
              <a:rPr lang="it-IT" smtClean="0"/>
              <a:t>24/11/2016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6D73F-63CB-40B6-B1DF-F4B9976ED2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754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La durata dipende dallo scenario che capita… se</a:t>
            </a:r>
            <a:r>
              <a:rPr lang="it-IT" baseline="0" dirty="0" smtClean="0"/>
              <a:t> si è sfortunati dura poco, altrimenti tanto.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6D73F-63CB-40B6-B1DF-F4B9976ED29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524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Tutorial </a:t>
            </a:r>
            <a:r>
              <a:rPr lang="it-IT" dirty="0" err="1"/>
              <a:t>gams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Parte 4</a:t>
            </a:r>
            <a:r>
              <a:rPr lang="it-IT" dirty="0" smtClean="0"/>
              <a:t>: modelli.</a:t>
            </a:r>
          </a:p>
        </p:txBody>
      </p:sp>
    </p:spTree>
    <p:extLst>
      <p:ext uri="{BB962C8B-B14F-4D97-AF65-F5344CB8AC3E}">
        <p14:creationId xmlns:p14="http://schemas.microsoft.com/office/powerpoint/2010/main" val="222090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Calcolo di una media condizionata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Si può fare in </a:t>
            </a:r>
            <a:r>
              <a:rPr lang="it-IT" dirty="0" err="1" smtClean="0"/>
              <a:t>excel</a:t>
            </a:r>
            <a:endParaRPr lang="it-IT" dirty="0" smtClean="0"/>
          </a:p>
          <a:p>
            <a:r>
              <a:rPr lang="it-IT" dirty="0" smtClean="0"/>
              <a:t>Data una lista, consideriamo la media dell’1% più piccolo</a:t>
            </a:r>
          </a:p>
          <a:p>
            <a:pPr lvl="1"/>
            <a:r>
              <a:rPr lang="it-IT" dirty="0" smtClean="0"/>
              <a:t>organizzo la lista in ordine crescente</a:t>
            </a:r>
          </a:p>
          <a:p>
            <a:pPr lvl="1"/>
            <a:r>
              <a:rPr lang="it-IT" dirty="0" smtClean="0"/>
              <a:t>Prendo l’1% più piccolo</a:t>
            </a:r>
          </a:p>
          <a:p>
            <a:pPr lvl="1"/>
            <a:r>
              <a:rPr lang="it-IT" dirty="0" smtClean="0"/>
              <a:t>Faccio la media</a:t>
            </a:r>
          </a:p>
          <a:p>
            <a:r>
              <a:rPr lang="it-IT" dirty="0"/>
              <a:t>Si può risolvere anche in </a:t>
            </a:r>
            <a:r>
              <a:rPr lang="it-IT" dirty="0" err="1"/>
              <a:t>gams</a:t>
            </a:r>
            <a:r>
              <a:rPr lang="it-IT" dirty="0"/>
              <a:t> con un problema di </a:t>
            </a:r>
            <a:r>
              <a:rPr lang="it-IT" dirty="0" err="1"/>
              <a:t>lp</a:t>
            </a:r>
            <a:endParaRPr lang="it-IT" dirty="0"/>
          </a:p>
          <a:p>
            <a:pPr lvl="1"/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362450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Calcolo di una media condizionata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/>
                      </m:func>
                      <m:nary>
                        <m:naryPr>
                          <m:chr m:val="∑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f>
                            <m:f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m:rPr>
                                  <m:nor/>
                                </m:rPr>
                                <a:rPr lang="it-IT" dirty="0"/>
                                <m:t> 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it-IT" dirty="0" smtClean="0"/>
              </a:p>
              <a:p>
                <a:pPr marL="0" indent="0">
                  <a:buNone/>
                </a:pPr>
                <a:r>
                  <a:rPr lang="it-IT" dirty="0" smtClean="0"/>
                  <a:t>			CON VINCOLI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it-IT" dirty="0" smtClean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it-IT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61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Duale del problema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max</m:t>
                          </m:r>
                        </m:fName>
                        <m:e/>
                      </m:func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it-IT" dirty="0" smtClean="0"/>
              </a:p>
              <a:p>
                <a:pPr marL="0" indent="0">
                  <a:buNone/>
                </a:pPr>
                <a:r>
                  <a:rPr lang="it-IT" dirty="0" smtClean="0"/>
                  <a:t>Con vincoli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it-IT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it-IT" b="0" dirty="0" smtClean="0">
                  <a:ea typeface="Cambria Math" panose="02040503050406030204" pitchFamily="18" charset="0"/>
                </a:endParaRPr>
              </a:p>
              <a:p>
                <a:r>
                  <a:rPr lang="it-IT" dirty="0" smtClean="0"/>
                  <a:t>Questa formulazione ha il beneficio di non avere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it-IT" dirty="0" smtClean="0"/>
                  <a:t> nella funzione obiettivo, la quale potrebbe ora essere considerata anche un vettore di variabili</a:t>
                </a:r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588" b="-213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27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Controllo della qualità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Produttore di </a:t>
            </a:r>
            <a:r>
              <a:rPr lang="it-IT" dirty="0" err="1" smtClean="0"/>
              <a:t>smartphone</a:t>
            </a:r>
            <a:r>
              <a:rPr lang="it-IT" dirty="0" smtClean="0"/>
              <a:t> affida la produzione dei processori a tre aziende esterne (a, b, C).</a:t>
            </a:r>
          </a:p>
          <a:p>
            <a:r>
              <a:rPr lang="it-IT" dirty="0" smtClean="0"/>
              <a:t>Si vogliono produrre 500000 pezzi.</a:t>
            </a:r>
          </a:p>
          <a:p>
            <a:r>
              <a:rPr lang="it-IT" dirty="0" smtClean="0"/>
              <a:t>PER ESEMPIO SE L’AZIENDA A PRODUCE IL 30% DI TUTTI I PROCESSORI, ALLORA UN ACQUIRENTE HA IL 30% DI </a:t>
            </a:r>
            <a:r>
              <a:rPr lang="it-IT" dirty="0" err="1" smtClean="0"/>
              <a:t>PROBABILITà</a:t>
            </a:r>
            <a:r>
              <a:rPr lang="it-IT" dirty="0" smtClean="0"/>
              <a:t> DI ACQUISTARE UNO SMARTPHONE IL CUI PROCESSORE è STATO PRODOTTO DALL’AZIENDA A.</a:t>
            </a:r>
          </a:p>
          <a:p>
            <a:r>
              <a:rPr lang="it-IT" dirty="0" smtClean="0"/>
              <a:t>LA </a:t>
            </a:r>
            <a:r>
              <a:rPr lang="it-IT" dirty="0" err="1" smtClean="0"/>
              <a:t>QUALITà</a:t>
            </a:r>
            <a:r>
              <a:rPr lang="it-IT" dirty="0" smtClean="0"/>
              <a:t> DEI PROCESSORI è DIVERSA PER OGNI AZIENDA E DISPONIAMO DI UNA LISTA DELLE DURATE DEI VARI PROCESSORI SUDDIVISI PER AZIENDA</a:t>
            </a:r>
          </a:p>
        </p:txBody>
      </p:sp>
    </p:spTree>
    <p:extLst>
      <p:ext uri="{BB962C8B-B14F-4D97-AF65-F5344CB8AC3E}">
        <p14:creationId xmlns:p14="http://schemas.microsoft.com/office/powerpoint/2010/main" val="315359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DURATA DEI PROCESSORI (CONTINUA SU EXCEL)</a:t>
            </a:r>
            <a:endParaRPr lang="it-IT" dirty="0"/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87092013"/>
              </p:ext>
            </p:extLst>
          </p:nvPr>
        </p:nvGraphicFramePr>
        <p:xfrm>
          <a:off x="914400" y="2366963"/>
          <a:ext cx="10363200" cy="370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2557679653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75012125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705685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A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B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C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478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4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81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49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84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4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4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514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488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7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33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4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135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8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2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926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6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3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5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221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310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MODELLIZZAZIONE DURATA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it-IT" dirty="0" smtClean="0"/>
                  <a:t>MODELLIAMO LA DURATA COME UN PARAMETRO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it-IT" dirty="0" smtClean="0"/>
                  <a:t> dove j è l’azienda produttrice (</a:t>
                </a:r>
                <a:r>
                  <a:rPr lang="it-IT" dirty="0" err="1" smtClean="0"/>
                  <a:t>a,b,c</a:t>
                </a:r>
                <a:r>
                  <a:rPr lang="it-IT" dirty="0" smtClean="0"/>
                  <a:t>) ed s è lo scenario per la durata del processore.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it-IT" dirty="0" smtClean="0"/>
                  <a:t> vuol dire che per l’azienda a esiste uno scenario in cui il processore dura 8 anni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,1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it-IT" dirty="0" smtClean="0"/>
                  <a:t> vuol dire che per l’azienda c esiste uno scenario (il 10) in cui il processore dura 2 anni.</a:t>
                </a:r>
              </a:p>
              <a:p>
                <a:r>
                  <a:rPr lang="it-IT" dirty="0" smtClean="0"/>
                  <a:t>Ad ogni scenario corrisponde un vettore con le durate dei processori per le tre aziende. Supponiamo che in futuro si ripresentino scenari simili a quelli visti.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471" b="-213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38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MODELLIZZAZIONE DURATA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it-IT" dirty="0" smtClean="0"/>
                  <a:t>La durata che un acquirente si può aspettare da un processore in un dato scenario rispecchia la percentuale di processori prodotta da ogni azienda.</a:t>
                </a:r>
              </a:p>
              <a:p>
                <a:r>
                  <a:rPr lang="it-IT" dirty="0" smtClean="0"/>
                  <a:t>Per esempio se a produce il 20% dei processori e c produce l’80% la durata attesa del processore per un acquirente è data da</a:t>
                </a:r>
              </a:p>
              <a:p>
                <a:endParaRPr lang="it-IT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0.2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+0∗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nor/>
                        </m:rPr>
                        <a:rPr lang="it-IT" dirty="0"/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0.8∗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it-IT" dirty="0" smtClean="0"/>
              </a:p>
              <a:p>
                <a:pPr marL="0" indent="0">
                  <a:buNone/>
                </a:pPr>
                <a:r>
                  <a:rPr lang="it-IT" dirty="0" smtClean="0"/>
                  <a:t>Per esempio, nello scenario 1 sarà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0.2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∗7</m:t>
                    </m:r>
                    <m:r>
                      <m:rPr>
                        <m:nor/>
                      </m:rPr>
                      <a:rPr lang="it-IT" dirty="0"/>
                      <m:t>+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8∗4</m:t>
                    </m:r>
                  </m:oMath>
                </a14:m>
                <a:r>
                  <a:rPr lang="it-IT" dirty="0" smtClean="0"/>
                  <a:t>=4.6.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647" b="-24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175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Costi di produzione</a:t>
            </a:r>
            <a:endParaRPr lang="it-IT" dirty="0"/>
          </a:p>
        </p:txBody>
      </p:sp>
      <p:graphicFrame>
        <p:nvGraphicFramePr>
          <p:cNvPr id="4" name="Segnaposto contenuto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27762568"/>
              </p:ext>
            </p:extLst>
          </p:nvPr>
        </p:nvGraphicFramePr>
        <p:xfrm>
          <a:off x="914400" y="2366963"/>
          <a:ext cx="1036320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4217229768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379915718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437190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A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B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C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132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70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45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smtClean="0"/>
                        <a:t>12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82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345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Problema di ottimizzazione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Scegliamo quanta percentuale dei processori totali far produrre ad a, b e c minimizzando i costi di approvvigionamento e </a:t>
            </a:r>
            <a:r>
              <a:rPr lang="it-IT" dirty="0"/>
              <a:t>mantenendo una garanzia minima </a:t>
            </a:r>
            <a:r>
              <a:rPr lang="it-IT" dirty="0" smtClean="0"/>
              <a:t>sulla durata </a:t>
            </a:r>
            <a:r>
              <a:rPr lang="it-IT" dirty="0"/>
              <a:t>media condizionata all’1% peggiore degli scenari</a:t>
            </a:r>
            <a:r>
              <a:rPr lang="it-IT" dirty="0" smtClean="0"/>
              <a:t>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46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modello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70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+45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+12</m:t>
                          </m:r>
                          <m:sSub>
                            <m:sSub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CON </a:t>
                </a:r>
                <a:r>
                  <a:rPr lang="it-IT" dirty="0" smtClean="0"/>
                  <a:t>VINCOLI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it-IT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it-IT" dirty="0"/>
                            <m:t>+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f>
                            <m:fPr>
                              <m:ctrlP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nary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0,  </m:t>
                      </m:r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4174048"/>
      </p:ext>
    </p:extLst>
  </p:cSld>
  <p:clrMapOvr>
    <a:masterClrMapping/>
  </p:clrMapOvr>
</p:sld>
</file>

<file path=ppt/theme/theme1.xml><?xml version="1.0" encoding="utf-8"?>
<a:theme xmlns:a="http://schemas.openxmlformats.org/drawingml/2006/main" name="Goccia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TM04033925[[fn=Goccia]]</Template>
  <TotalTime>227</TotalTime>
  <Words>313</Words>
  <Application>Microsoft Office PowerPoint</Application>
  <PresentationFormat>Widescreen</PresentationFormat>
  <Paragraphs>86</Paragraphs>
  <Slides>11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Tw Cen MT</vt:lpstr>
      <vt:lpstr>Goccia</vt:lpstr>
      <vt:lpstr>Tutorial gams</vt:lpstr>
      <vt:lpstr>Calcolo di una media condizionata</vt:lpstr>
      <vt:lpstr>Calcolo di una media condizionata</vt:lpstr>
      <vt:lpstr>Duale del problema</vt:lpstr>
      <vt:lpstr>Controllo della qualità</vt:lpstr>
      <vt:lpstr>DURATA DEI PROCESSORI (CONTINUA SU EXCEL)</vt:lpstr>
      <vt:lpstr>MODELLIZZAZIONE DURATA</vt:lpstr>
      <vt:lpstr>MODELLIZZAZIONE DURATA</vt:lpstr>
      <vt:lpstr>Costi di produzione</vt:lpstr>
      <vt:lpstr>Problema di ottimizzazione</vt:lpstr>
      <vt:lpstr>modello</vt:lpstr>
    </vt:vector>
  </TitlesOfParts>
  <Company>Università degli Studi di Bergamo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gams</dc:title>
  <dc:creator>Paolo Pisciella</dc:creator>
  <cp:lastModifiedBy>Paolo Pisciella</cp:lastModifiedBy>
  <cp:revision>52</cp:revision>
  <dcterms:created xsi:type="dcterms:W3CDTF">2016-11-15T15:05:49Z</dcterms:created>
  <dcterms:modified xsi:type="dcterms:W3CDTF">2016-11-24T17:13:11Z</dcterms:modified>
</cp:coreProperties>
</file>